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bc812e332946ca" /><Relationship Type="http://schemas.openxmlformats.org/officeDocument/2006/relationships/extended-properties" Target="/docProps/app.xml" Id="R024a6fc7a24440af" /><Relationship Type="http://schemas.openxmlformats.org/officeDocument/2006/relationships/officeDocument" Target="/ppt/presentation.xml" Id="Re99cb78128f8446c" /></Relationships>
</file>

<file path=ppt/presentation.xml><?xml version="1.0" encoding="utf-8"?>
<p:presentation xmlns:p="http://schemas.openxmlformats.org/presentationml/2006/main">
  <p:sldMasterIdLst>
    <p:sldMasterId xmlns:r="http://schemas.openxmlformats.org/officeDocument/2006/relationships" id="2147483648" r:id="Rdb9e4bfc8c7f4fbf"/>
  </p:sldMasterIdLst>
  <p:notesMasterIdLst>
    <p:notesMasterId xmlns:r="http://schemas.openxmlformats.org/officeDocument/2006/relationships" r:id="Re80ba0f03ecd4882"/>
  </p:notesMasterIdLst>
  <p:sldIdLst>
    <p:sldId xmlns:r="http://schemas.openxmlformats.org/officeDocument/2006/relationships" id="256" r:id="Re2e0175fe2df4f4f"/>
    <p:sldId xmlns:r="http://schemas.openxmlformats.org/officeDocument/2006/relationships" id="257" r:id="R894a840d3bf14b4b"/>
    <p:sldId xmlns:r="http://schemas.openxmlformats.org/officeDocument/2006/relationships" id="258" r:id="R9f28792a2c49410d"/>
    <p:sldId xmlns:r="http://schemas.openxmlformats.org/officeDocument/2006/relationships" id="259" r:id="R914e260548b34d48"/>
    <p:sldId xmlns:r="http://schemas.openxmlformats.org/officeDocument/2006/relationships" id="260" r:id="R94004dfe80f34133"/>
    <p:sldId xmlns:r="http://schemas.openxmlformats.org/officeDocument/2006/relationships" id="261" r:id="R3abe1795b75c4e83"/>
    <p:sldId xmlns:r="http://schemas.openxmlformats.org/officeDocument/2006/relationships" id="262" r:id="Ra40fd2b403f14a0e"/>
    <p:sldId xmlns:r="http://schemas.openxmlformats.org/officeDocument/2006/relationships" id="263" r:id="Rb80d286d4aed4e65"/>
    <p:sldId xmlns:r="http://schemas.openxmlformats.org/officeDocument/2006/relationships" id="264" r:id="Rbdc88c1407c14ab9"/>
    <p:sldId xmlns:r="http://schemas.openxmlformats.org/officeDocument/2006/relationships" id="265" r:id="R903a097cfb424b07"/>
    <p:sldId xmlns:r="http://schemas.openxmlformats.org/officeDocument/2006/relationships" id="266" r:id="R29977addcb6d4102"/>
    <p:sldId xmlns:r="http://schemas.openxmlformats.org/officeDocument/2006/relationships" id="267" r:id="Re97dbd583a2143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15e8c00009495b" /><Relationship Type="http://schemas.openxmlformats.org/officeDocument/2006/relationships/slideMaster" Target="/ppt/slideMasters/slideMaster1.xml" Id="Rdb9e4bfc8c7f4fbf" /><Relationship Type="http://schemas.openxmlformats.org/officeDocument/2006/relationships/notesMaster" Target="/ppt/notesMasters/notesMaster1.xml" Id="Re80ba0f03ecd4882" /><Relationship Type="http://schemas.openxmlformats.org/officeDocument/2006/relationships/presProps" Target="/ppt/presProps.xml" Id="R383b1010f5544fd3" /><Relationship Type="http://schemas.openxmlformats.org/officeDocument/2006/relationships/tableStyles" Target="/ppt/tableStyles.xml" Id="Rbf40fa7981324b51" /><Relationship Type="http://schemas.openxmlformats.org/officeDocument/2006/relationships/slide" Target="/ppt/slides/slide1.xml" Id="Re2e0175fe2df4f4f" /><Relationship Type="http://schemas.openxmlformats.org/officeDocument/2006/relationships/slide" Target="/ppt/slides/slide2.xml" Id="R894a840d3bf14b4b" /><Relationship Type="http://schemas.openxmlformats.org/officeDocument/2006/relationships/slide" Target="/ppt/slides/slide3.xml" Id="R9f28792a2c49410d" /><Relationship Type="http://schemas.openxmlformats.org/officeDocument/2006/relationships/slide" Target="/ppt/slides/slide4.xml" Id="R914e260548b34d48" /><Relationship Type="http://schemas.openxmlformats.org/officeDocument/2006/relationships/slide" Target="/ppt/slides/slide5.xml" Id="R94004dfe80f34133" /><Relationship Type="http://schemas.openxmlformats.org/officeDocument/2006/relationships/slide" Target="/ppt/slides/slide6.xml" Id="R3abe1795b75c4e83" /><Relationship Type="http://schemas.openxmlformats.org/officeDocument/2006/relationships/slide" Target="/ppt/slides/slide7.xml" Id="Ra40fd2b403f14a0e" /><Relationship Type="http://schemas.openxmlformats.org/officeDocument/2006/relationships/slide" Target="/ppt/slides/slide8.xml" Id="Rb80d286d4aed4e65" /><Relationship Type="http://schemas.openxmlformats.org/officeDocument/2006/relationships/slide" Target="/ppt/slides/slide9.xml" Id="Rbdc88c1407c14ab9" /><Relationship Type="http://schemas.openxmlformats.org/officeDocument/2006/relationships/slide" Target="/ppt/slides/slide10.xml" Id="R903a097cfb424b07" /><Relationship Type="http://schemas.openxmlformats.org/officeDocument/2006/relationships/slide" Target="/ppt/slides/slide11.xml" Id="R29977addcb6d4102" /><Relationship Type="http://schemas.openxmlformats.org/officeDocument/2006/relationships/slide" Target="/ppt/slides/slide12.xml" Id="Re97dbd583a2143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077fe3c44847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4772554b694de0" /><Relationship Type="http://schemas.openxmlformats.org/officeDocument/2006/relationships/notesMaster" Target="/ppt/notesMasters/notesMaster1.xml" Id="R29d61905e3414c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1951126e9c4163" /><Relationship Type="http://schemas.openxmlformats.org/officeDocument/2006/relationships/notesMaster" Target="/ppt/notesMasters/notesMaster1.xml" Id="Rd955705fd9a440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b4967800914923" /><Relationship Type="http://schemas.openxmlformats.org/officeDocument/2006/relationships/notesMaster" Target="/ppt/notesMasters/notesMaster1.xml" Id="R86f1d459047041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9c90016a9343dc" /><Relationship Type="http://schemas.openxmlformats.org/officeDocument/2006/relationships/notesMaster" Target="/ppt/notesMasters/notesMaster1.xml" Id="Ra298b7ca4cab4f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1e1331a02e46ff" /><Relationship Type="http://schemas.openxmlformats.org/officeDocument/2006/relationships/notesMaster" Target="/ppt/notesMasters/notesMaster1.xml" Id="R2a651dd8871349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e81e265b9e4b0f" /><Relationship Type="http://schemas.openxmlformats.org/officeDocument/2006/relationships/notesMaster" Target="/ppt/notesMasters/notesMaster1.xml" Id="R5278c0b72cf048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f1352756814d1c" /><Relationship Type="http://schemas.openxmlformats.org/officeDocument/2006/relationships/notesMaster" Target="/ppt/notesMasters/notesMaster1.xml" Id="Rbbeeaf90ca104b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a3279511a1429c" /><Relationship Type="http://schemas.openxmlformats.org/officeDocument/2006/relationships/notesMaster" Target="/ppt/notesMasters/notesMaster1.xml" Id="R76a9d02598a647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de1be561da4aac" /><Relationship Type="http://schemas.openxmlformats.org/officeDocument/2006/relationships/notesMaster" Target="/ppt/notesMasters/notesMaster1.xml" Id="Rabc14c00656a4e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2c32588c284600" /><Relationship Type="http://schemas.openxmlformats.org/officeDocument/2006/relationships/notesMaster" Target="/ppt/notesMasters/notesMaster1.xml" Id="R9e4481e9f17b4d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db776e8c8c47a0" /><Relationship Type="http://schemas.openxmlformats.org/officeDocument/2006/relationships/notesMaster" Target="/ppt/notesMasters/notesMaster1.xml" Id="Rbcf207f82b2247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93ab5c96124d1b" /><Relationship Type="http://schemas.openxmlformats.org/officeDocument/2006/relationships/notesMaster" Target="/ppt/notesMasters/notesMaster1.xml" Id="R4faf2e7663d44a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I chose the padding oracle attack because it turns a small error-handling difference into both plaintext disclosure and ciphertext forgery. The key never has to be recovered. The report models the exploit as a directed graph from an idle system to three loss states. I will cover the mechanism, the local demonstration, the graph, and the controls that break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CBC supplies confidentiality, not authenticity. If the application accepts a modified ciphertext, the change flows straight into the decrypted state. The third box is the critical design mistake: the plaintext becomes authority without a separate integrity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CBC decryption gives P-i equals D-K of C-i xor the previous ciphertext block. For the first block, the previous value is the IV. The attacker does not need D-K; changing the preceding block changes the plaintext in a predictable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PKCS-seven padding must end in a consistent pattern. The server only needs to reveal whether the pattern was valid. That can be an explicit error, a different status, a redirect, response length, or timing. The exact channel matters less than the reliable distinction.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position, try candidate bytes until the block ends in the desired padding. The successful guess reveals the intermediate byte, not the key. Set the next target to two bytes of 02, then three bytes of 03, and repeat. The demonstration used 4,713 requests for two blocks, consistent with the expected random search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intermediate value is known, a new predecessor produces chosen plaintext. The demonstration targets the first block through the IV, so later plaintext remains intact. Changing an inner block would also corrupt the previous plaintext block, a constraint a real exploit has to handle.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model. S0 is the idle system. The attacker captures a cookie, detects the oracle, and enters the probing loop at S3. A successful response reveals one byte; sixteen bytes recover a block. The upper path assembles plaintext and reaches K1. The lower path builds a forged predecessor, gets it accepted, and reaches K2. K3 is conditional: high-volume probing can trigger lockout or resource pressure, but the graph does not claim that every attack reaches denial of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 recovered the complete synthetic session and then changed only the first block. Before the forgery the response was a user dashboard. After the new IV, the same service returned role equals root and the admin console. Zero key bytes were recovered; the attack abuses predictions and validity, not key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root cause is not a weak block cipher. The client can modify ciphertext, the application exposes padding validity, and the decrypted role is treated as authority. CWE-353 captures the missing integrity check. The parser is on the attack surface because only one valid-padding bit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has three terminal loss classes. K1 is information theft. K2 is modification and unauthorized access, demonstrated by the role change. K3 is conditional availability loss. Keeping the difference explicit makes the model defensible and prevents overclaiming.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fix is authenticated encryption with the tag checked before any parsing. If CBC must remain, use Encrypt-then-MAC and compare in constant time. Uniform failures shrink the side channel, while rate limits and key rotation reduce the practical value of probing and previously captured cookies.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close, the attack did not break AES. It broke the system's trust decision. Verify authenticity first, never expose padding validity, and treat decrypted state as untrusted. The graph turns those principles into testable controls: remove the oracle edge, and reject the forged state before it becomes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982804c41a4d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2bc620f4a34dd1" /><Relationship Type="http://schemas.openxmlformats.org/officeDocument/2006/relationships/slideLayout" Target="/ppt/slideLayouts/slideLayout1.xml" Id="R6663bc24706249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63bc24706249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30ffa5388a45a9" /><Relationship Type="http://schemas.openxmlformats.org/officeDocument/2006/relationships/notesSlide" Target="/ppt/notesSlides/notesSlide1.xml" Id="Ra9742f77eb1048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118fd7f6944f16" /><Relationship Type="http://schemas.openxmlformats.org/officeDocument/2006/relationships/notesSlide" Target="/ppt/notesSlides/notesSlide2.xml" Id="Re0df56a2a43a42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d463c0bdef48d7" /><Relationship Type="http://schemas.openxmlformats.org/officeDocument/2006/relationships/image" Target="/ppt/media/image.png" Id="Rd51b700185714e1b" /><Relationship Type="http://schemas.openxmlformats.org/officeDocument/2006/relationships/notesSlide" Target="/ppt/notesSlides/notesSlide3.xml" Id="Rc4217aaeaebb48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e35a38d5c143f9" /><Relationship Type="http://schemas.openxmlformats.org/officeDocument/2006/relationships/notesSlide" Target="/ppt/notesSlides/notesSlide4.xml" Id="Ra0505908e10e4c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8900625a0d4f7c" /><Relationship Type="http://schemas.openxmlformats.org/officeDocument/2006/relationships/notesSlide" Target="/ppt/notesSlides/notesSlide5.xml" Id="R07c1544803984a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22f3c526ba4105" /><Relationship Type="http://schemas.openxmlformats.org/officeDocument/2006/relationships/notesSlide" Target="/ppt/notesSlides/notesSlide6.xml" Id="R22795279c6514c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a6bb55755c42d5" /><Relationship Type="http://schemas.openxmlformats.org/officeDocument/2006/relationships/image" Target="/ppt/media/image2.png" Id="R020d452f07144a41" /><Relationship Type="http://schemas.openxmlformats.org/officeDocument/2006/relationships/notesSlide" Target="/ppt/notesSlides/notesSlide7.xml" Id="R554805123dcf4e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3bbfd59ba3b452a" /><Relationship Type="http://schemas.openxmlformats.org/officeDocument/2006/relationships/notesSlide" Target="/ppt/notesSlides/notesSlide8.xml" Id="R81c68d7f9e7646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31acbe47014bc4" /><Relationship Type="http://schemas.openxmlformats.org/officeDocument/2006/relationships/notesSlide" Target="/ppt/notesSlides/notesSlide9.xml" Id="Rdfd2af64d4f7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259b7c1e6c4ea5" /><Relationship Type="http://schemas.openxmlformats.org/officeDocument/2006/relationships/notesSlide" Target="/ppt/notesSlides/notesSlide10.xml" Id="R35035927e58d42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6dd8fcd3554bcb" /><Relationship Type="http://schemas.openxmlformats.org/officeDocument/2006/relationships/notesSlide" Target="/ppt/notesSlides/notesSlide11.xml" Id="R3e6e1a18768946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e5a1983d3d4dfd" /><Relationship Type="http://schemas.openxmlformats.org/officeDocument/2006/relationships/notesSlide" Target="/ppt/notesSlides/notesSlide12.xml" Id="R54a0e9c6613642b0"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73DE828-5BCB-4937-A90F-25FB74937405}"/>
              </a:ext>
            </a:extLst>
          </p:cNvPr>
          <p:cNvSpPr>
            <a:spLocks xmlns:a="http://schemas.openxmlformats.org/drawingml/2006/main" noGrp="1"/>
          </p:cNvSpPr>
          <p:nvPr/>
        </p:nvSpPr>
        <p:spPr>
          <a:xfrm xmlns:a="http://schemas.openxmlformats.org/drawingml/2006/main">
            <a:off x="114300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2" name="">
            <a:extLst xmlns:a="http://schemas.openxmlformats.org/drawingml/2006/main">
              <a:ext uri="{FF2B5EF4-FFF2-40B4-BE49-F238E27FC236}">
                <a16:creationId xmlns:a16="http://schemas.microsoft.com/office/drawing/2014/main" id="{F9D5EABE-C7F5-4531-B89C-32084D6970EA}"/>
              </a:ext>
            </a:extLst>
          </p:cNvPr>
          <p:cNvSpPr>
            <a:spLocks xmlns:a="http://schemas.openxmlformats.org/drawingml/2006/main" noGrp="1"/>
          </p:cNvSpPr>
          <p:nvPr/>
        </p:nvSpPr>
        <p:spPr>
          <a:xfrm xmlns:a="http://schemas.openxmlformats.org/drawingml/2006/main">
            <a:off x="257175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3" name="">
            <a:extLst xmlns:a="http://schemas.openxmlformats.org/drawingml/2006/main">
              <a:ext uri="{FF2B5EF4-FFF2-40B4-BE49-F238E27FC236}">
                <a16:creationId xmlns:a16="http://schemas.microsoft.com/office/drawing/2014/main" id="{AA776058-C969-47A6-9920-CE8455511C07}"/>
              </a:ext>
            </a:extLst>
          </p:cNvPr>
          <p:cNvSpPr>
            <a:spLocks xmlns:a="http://schemas.openxmlformats.org/drawingml/2006/main" noGrp="1"/>
          </p:cNvSpPr>
          <p:nvPr/>
        </p:nvSpPr>
        <p:spPr>
          <a:xfrm xmlns:a="http://schemas.openxmlformats.org/drawingml/2006/main">
            <a:off x="400050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4" name="">
            <a:extLst xmlns:a="http://schemas.openxmlformats.org/drawingml/2006/main">
              <a:ext uri="{FF2B5EF4-FFF2-40B4-BE49-F238E27FC236}">
                <a16:creationId xmlns:a16="http://schemas.microsoft.com/office/drawing/2014/main" id="{43EE7E4A-461D-48E9-94B2-F757E8EEB56C}"/>
              </a:ext>
            </a:extLst>
          </p:cNvPr>
          <p:cNvSpPr>
            <a:spLocks xmlns:a="http://schemas.openxmlformats.org/drawingml/2006/main" noGrp="1"/>
          </p:cNvSpPr>
          <p:nvPr/>
        </p:nvSpPr>
        <p:spPr>
          <a:xfrm xmlns:a="http://schemas.openxmlformats.org/drawingml/2006/main">
            <a:off x="542925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5" name="">
            <a:extLst xmlns:a="http://schemas.openxmlformats.org/drawingml/2006/main">
              <a:ext uri="{FF2B5EF4-FFF2-40B4-BE49-F238E27FC236}">
                <a16:creationId xmlns:a16="http://schemas.microsoft.com/office/drawing/2014/main" id="{02426C78-AD5D-492C-96CE-79430EEF0D39}"/>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6" name="">
            <a:extLst xmlns:a="http://schemas.openxmlformats.org/drawingml/2006/main">
              <a:ext uri="{FF2B5EF4-FFF2-40B4-BE49-F238E27FC236}">
                <a16:creationId xmlns:a16="http://schemas.microsoft.com/office/drawing/2014/main" id="{08A3BEE9-4832-4B42-BCEB-818CD001B1E2}"/>
              </a:ext>
            </a:extLst>
          </p:cNvPr>
          <p:cNvSpPr>
            <a:spLocks xmlns:a="http://schemas.openxmlformats.org/drawingml/2006/main" noGrp="1"/>
          </p:cNvSpPr>
          <p:nvPr/>
        </p:nvSpPr>
        <p:spPr>
          <a:xfrm xmlns:a="http://schemas.openxmlformats.org/drawingml/2006/main">
            <a:off x="828675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7" name="">
            <a:extLst xmlns:a="http://schemas.openxmlformats.org/drawingml/2006/main">
              <a:ext uri="{FF2B5EF4-FFF2-40B4-BE49-F238E27FC236}">
                <a16:creationId xmlns:a16="http://schemas.microsoft.com/office/drawing/2014/main" id="{E1D2F2EF-ED6B-4AAE-A594-A8E4887AF209}"/>
              </a:ext>
            </a:extLst>
          </p:cNvPr>
          <p:cNvSpPr>
            <a:spLocks xmlns:a="http://schemas.openxmlformats.org/drawingml/2006/main" noGrp="1"/>
          </p:cNvSpPr>
          <p:nvPr/>
        </p:nvSpPr>
        <p:spPr>
          <a:xfrm xmlns:a="http://schemas.openxmlformats.org/drawingml/2006/main">
            <a:off x="971550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8" name="">
            <a:extLst xmlns:a="http://schemas.openxmlformats.org/drawingml/2006/main">
              <a:ext uri="{FF2B5EF4-FFF2-40B4-BE49-F238E27FC236}">
                <a16:creationId xmlns:a16="http://schemas.microsoft.com/office/drawing/2014/main" id="{9BA07D39-FF34-4AB4-A2CC-47530D11B98A}"/>
              </a:ext>
            </a:extLst>
          </p:cNvPr>
          <p:cNvSpPr>
            <a:spLocks xmlns:a="http://schemas.openxmlformats.org/drawingml/2006/main" noGrp="1"/>
          </p:cNvSpPr>
          <p:nvPr/>
        </p:nvSpPr>
        <p:spPr>
          <a:xfrm xmlns:a="http://schemas.openxmlformats.org/drawingml/2006/main">
            <a:off x="11144250" y="0"/>
            <a:ext cx="9525" cy="6858000"/>
          </a:xfrm>
          <a:prstGeom xmlns:a="http://schemas.openxmlformats.org/drawingml/2006/main" prst="rect">
            <a:avLst/>
          </a:prstGeom>
          <a:solidFill xmlns:a="http://schemas.openxmlformats.org/drawingml/2006/main">
            <a:srgbClr val="17324B"/>
          </a:solidFill>
          <a:ln xmlns:a="http://schemas.openxmlformats.org/drawingml/2006/main" w="0">
            <a:solidFill>
              <a:srgbClr val="17324B"/>
            </a:solidFill>
            <a:prstDash val="solid"/>
          </a:ln>
        </p:spPr>
      </p:sp>
      <p:sp>
        <p:nvSpPr>
          <p:cNvPr id="9" name="text">
            <a:extLst xmlns:a="http://schemas.openxmlformats.org/drawingml/2006/main">
              <a:ext uri="{FF2B5EF4-FFF2-40B4-BE49-F238E27FC236}">
                <a16:creationId xmlns:a16="http://schemas.microsoft.com/office/drawing/2014/main" id="{443879CE-828E-4F2B-A120-6B22DE3CF33D}"/>
              </a:ext>
            </a:extLst>
          </p:cNvPr>
          <p:cNvSpPr>
            <a:spLocks xmlns:a="http://schemas.openxmlformats.org/drawingml/2006/main" noGrp="1"/>
          </p:cNvSpPr>
          <p:nvPr/>
        </p:nvSpPr>
        <p:spPr>
          <a:xfrm xmlns:a="http://schemas.openxmlformats.org/drawingml/2006/main">
            <a:off x="6858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7DD3FC"/>
                </a:solidFill>
                <a:latin typeface="Arial"/>
                <a:ea typeface="Arial"/>
                <a:cs typeface="Arial"/>
              </a:defRPr>
            </a:pPr>
            <a:r>
              <a:rPr sz="975" b="1">
                <a:solidFill>
                  <a:srgbClr val="7DD3FC"/>
                </a:solidFill>
                <a:latin typeface="Arial"/>
                <a:ea typeface="Arial"/>
                <a:cs typeface="Arial"/>
              </a:rPr>
              <a:t>WORK 3  /  COMPUTER ATTACKS</a:t>
            </a:r>
          </a:p>
        </p:txBody>
      </p:sp>
      <p:sp>
        <p:nvSpPr>
          <p:cNvPr id="10" name="text">
            <a:extLst xmlns:a="http://schemas.openxmlformats.org/drawingml/2006/main">
              <a:ext uri="{FF2B5EF4-FFF2-40B4-BE49-F238E27FC236}">
                <a16:creationId xmlns:a16="http://schemas.microsoft.com/office/drawing/2014/main" id="{3EFD83CC-ED17-4492-AF66-FBFEB8CA707B}"/>
              </a:ext>
            </a:extLst>
          </p:cNvPr>
          <p:cNvSpPr>
            <a:spLocks xmlns:a="http://schemas.openxmlformats.org/drawingml/2006/main" noGrp="1"/>
          </p:cNvSpPr>
          <p:nvPr/>
        </p:nvSpPr>
        <p:spPr>
          <a:xfrm xmlns:a="http://schemas.openxmlformats.org/drawingml/2006/main">
            <a:off x="666750" y="1752600"/>
            <a:ext cx="990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800" b="1">
                <a:solidFill>
                  <a:srgbClr val="FFFFFF"/>
                </a:solidFill>
                <a:latin typeface="Arial"/>
                <a:ea typeface="Arial"/>
                <a:cs typeface="Arial"/>
              </a:defRPr>
            </a:pPr>
            <a:r>
              <a:rPr sz="4800" b="1">
                <a:solidFill>
                  <a:srgbClr val="FFFFFF"/>
                </a:solidFill>
                <a:latin typeface="Arial"/>
                <a:ea typeface="Arial"/>
                <a:cs typeface="Arial"/>
              </a:rPr>
              <a:t>Padding Oracle Attack</a:t>
            </a:r>
          </a:p>
        </p:txBody>
      </p:sp>
      <p:sp>
        <p:nvSpPr>
          <p:cNvPr id="11" name="text">
            <a:extLst xmlns:a="http://schemas.openxmlformats.org/drawingml/2006/main">
              <a:ext uri="{FF2B5EF4-FFF2-40B4-BE49-F238E27FC236}">
                <a16:creationId xmlns:a16="http://schemas.microsoft.com/office/drawing/2014/main" id="{70E1B4EA-C611-4A7D-95A5-B027662FBE63}"/>
              </a:ext>
            </a:extLst>
          </p:cNvPr>
          <p:cNvSpPr>
            <a:spLocks xmlns:a="http://schemas.openxmlformats.org/drawingml/2006/main" noGrp="1"/>
          </p:cNvSpPr>
          <p:nvPr/>
        </p:nvSpPr>
        <p:spPr>
          <a:xfrm xmlns:a="http://schemas.openxmlformats.org/drawingml/2006/main">
            <a:off x="685800" y="2857500"/>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D9E7F3"/>
                </a:solidFill>
                <a:latin typeface="Arial"/>
                <a:ea typeface="Arial"/>
                <a:cs typeface="Arial"/>
              </a:defRPr>
            </a:pPr>
            <a:r>
              <a:rPr sz="1800" b="0">
                <a:solidFill>
                  <a:srgbClr val="D9E7F3"/>
                </a:solidFill>
                <a:latin typeface="Arial"/>
                <a:ea typeface="Arial"/>
                <a:cs typeface="Arial"/>
              </a:rPr>
              <a:t>One valid-padding bit is enough to read and rewrite encrypted state.</a:t>
            </a:r>
          </a:p>
        </p:txBody>
      </p:sp>
      <p:sp>
        <p:nvSpPr>
          <p:cNvPr id="12" name="">
            <a:extLst xmlns:a="http://schemas.openxmlformats.org/drawingml/2006/main">
              <a:ext uri="{FF2B5EF4-FFF2-40B4-BE49-F238E27FC236}">
                <a16:creationId xmlns:a16="http://schemas.microsoft.com/office/drawing/2014/main" id="{3B8346F3-732A-4664-B7EA-9B44AF1E3CC7}"/>
              </a:ext>
            </a:extLst>
          </p:cNvPr>
          <p:cNvSpPr>
            <a:spLocks xmlns:a="http://schemas.openxmlformats.org/drawingml/2006/main" noGrp="1"/>
          </p:cNvSpPr>
          <p:nvPr/>
        </p:nvSpPr>
        <p:spPr>
          <a:xfrm xmlns:a="http://schemas.openxmlformats.org/drawingml/2006/main">
            <a:off x="685800" y="3752850"/>
            <a:ext cx="200025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3" name="">
            <a:extLst xmlns:a="http://schemas.openxmlformats.org/drawingml/2006/main">
              <a:ext uri="{FF2B5EF4-FFF2-40B4-BE49-F238E27FC236}">
                <a16:creationId xmlns:a16="http://schemas.microsoft.com/office/drawing/2014/main" id="{2DB004B4-4BC2-45FD-80F2-1A90C56AAA35}"/>
              </a:ext>
            </a:extLst>
          </p:cNvPr>
          <p:cNvSpPr>
            <a:spLocks xmlns:a="http://schemas.openxmlformats.org/drawingml/2006/main" noGrp="1"/>
          </p:cNvSpPr>
          <p:nvPr/>
        </p:nvSpPr>
        <p:spPr>
          <a:xfrm xmlns:a="http://schemas.openxmlformats.org/drawingml/2006/main">
            <a:off x="68580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72</a:t>
            </a:r>
          </a:p>
        </p:txBody>
      </p:sp>
      <p:sp>
        <p:nvSpPr>
          <p:cNvPr id="14" name="">
            <a:extLst xmlns:a="http://schemas.openxmlformats.org/drawingml/2006/main">
              <a:ext uri="{FF2B5EF4-FFF2-40B4-BE49-F238E27FC236}">
                <a16:creationId xmlns:a16="http://schemas.microsoft.com/office/drawing/2014/main" id="{144339AD-3C0B-43FD-8C19-9A4F81D76D04}"/>
              </a:ext>
            </a:extLst>
          </p:cNvPr>
          <p:cNvSpPr>
            <a:spLocks xmlns:a="http://schemas.openxmlformats.org/drawingml/2006/main" noGrp="1"/>
          </p:cNvSpPr>
          <p:nvPr/>
        </p:nvSpPr>
        <p:spPr>
          <a:xfrm xmlns:a="http://schemas.openxmlformats.org/drawingml/2006/main">
            <a:off x="139065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6F</a:t>
            </a:r>
          </a:p>
        </p:txBody>
      </p:sp>
      <p:sp>
        <p:nvSpPr>
          <p:cNvPr id="15" name="">
            <a:extLst xmlns:a="http://schemas.openxmlformats.org/drawingml/2006/main">
              <a:ext uri="{FF2B5EF4-FFF2-40B4-BE49-F238E27FC236}">
                <a16:creationId xmlns:a16="http://schemas.microsoft.com/office/drawing/2014/main" id="{8E7DC00C-29B6-4699-8823-16DCCC738ED4}"/>
              </a:ext>
            </a:extLst>
          </p:cNvPr>
          <p:cNvSpPr>
            <a:spLocks xmlns:a="http://schemas.openxmlformats.org/drawingml/2006/main" noGrp="1"/>
          </p:cNvSpPr>
          <p:nvPr/>
        </p:nvSpPr>
        <p:spPr>
          <a:xfrm xmlns:a="http://schemas.openxmlformats.org/drawingml/2006/main">
            <a:off x="209550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6C</a:t>
            </a:r>
          </a:p>
        </p:txBody>
      </p:sp>
      <p:sp>
        <p:nvSpPr>
          <p:cNvPr id="16" name="">
            <a:extLst xmlns:a="http://schemas.openxmlformats.org/drawingml/2006/main">
              <a:ext uri="{FF2B5EF4-FFF2-40B4-BE49-F238E27FC236}">
                <a16:creationId xmlns:a16="http://schemas.microsoft.com/office/drawing/2014/main" id="{DDE2E3E1-4BAB-4897-AF01-C4DBD062EAF0}"/>
              </a:ext>
            </a:extLst>
          </p:cNvPr>
          <p:cNvSpPr>
            <a:spLocks xmlns:a="http://schemas.openxmlformats.org/drawingml/2006/main" noGrp="1"/>
          </p:cNvSpPr>
          <p:nvPr/>
        </p:nvSpPr>
        <p:spPr>
          <a:xfrm xmlns:a="http://schemas.openxmlformats.org/drawingml/2006/main">
            <a:off x="280035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65</a:t>
            </a:r>
          </a:p>
        </p:txBody>
      </p:sp>
      <p:sp>
        <p:nvSpPr>
          <p:cNvPr id="17" name="">
            <a:extLst xmlns:a="http://schemas.openxmlformats.org/drawingml/2006/main">
              <a:ext uri="{FF2B5EF4-FFF2-40B4-BE49-F238E27FC236}">
                <a16:creationId xmlns:a16="http://schemas.microsoft.com/office/drawing/2014/main" id="{D8436927-808C-4278-9D88-27CE70FCA234}"/>
              </a:ext>
            </a:extLst>
          </p:cNvPr>
          <p:cNvSpPr>
            <a:spLocks xmlns:a="http://schemas.openxmlformats.org/drawingml/2006/main" noGrp="1"/>
          </p:cNvSpPr>
          <p:nvPr/>
        </p:nvSpPr>
        <p:spPr>
          <a:xfrm xmlns:a="http://schemas.openxmlformats.org/drawingml/2006/main">
            <a:off x="350520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3D</a:t>
            </a:r>
          </a:p>
        </p:txBody>
      </p:sp>
      <p:sp>
        <p:nvSpPr>
          <p:cNvPr id="18" name="">
            <a:extLst xmlns:a="http://schemas.openxmlformats.org/drawingml/2006/main">
              <a:ext uri="{FF2B5EF4-FFF2-40B4-BE49-F238E27FC236}">
                <a16:creationId xmlns:a16="http://schemas.microsoft.com/office/drawing/2014/main" id="{D51A0D0B-E83E-4877-845F-5632DE19AA55}"/>
              </a:ext>
            </a:extLst>
          </p:cNvPr>
          <p:cNvSpPr>
            <a:spLocks xmlns:a="http://schemas.openxmlformats.org/drawingml/2006/main" noGrp="1"/>
          </p:cNvSpPr>
          <p:nvPr/>
        </p:nvSpPr>
        <p:spPr>
          <a:xfrm xmlns:a="http://schemas.openxmlformats.org/drawingml/2006/main">
            <a:off x="421005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75</a:t>
            </a:r>
          </a:p>
        </p:txBody>
      </p:sp>
      <p:sp>
        <p:nvSpPr>
          <p:cNvPr id="19" name="">
            <a:extLst xmlns:a="http://schemas.openxmlformats.org/drawingml/2006/main">
              <a:ext uri="{FF2B5EF4-FFF2-40B4-BE49-F238E27FC236}">
                <a16:creationId xmlns:a16="http://schemas.microsoft.com/office/drawing/2014/main" id="{ACE9CC95-6256-4DE1-B60A-E444E850D8C6}"/>
              </a:ext>
            </a:extLst>
          </p:cNvPr>
          <p:cNvSpPr>
            <a:spLocks xmlns:a="http://schemas.openxmlformats.org/drawingml/2006/main" noGrp="1"/>
          </p:cNvSpPr>
          <p:nvPr/>
        </p:nvSpPr>
        <p:spPr>
          <a:xfrm xmlns:a="http://schemas.openxmlformats.org/drawingml/2006/main">
            <a:off x="491490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73</a:t>
            </a:r>
          </a:p>
        </p:txBody>
      </p:sp>
      <p:sp>
        <p:nvSpPr>
          <p:cNvPr id="20" name="">
            <a:extLst xmlns:a="http://schemas.openxmlformats.org/drawingml/2006/main">
              <a:ext uri="{FF2B5EF4-FFF2-40B4-BE49-F238E27FC236}">
                <a16:creationId xmlns:a16="http://schemas.microsoft.com/office/drawing/2014/main" id="{71DCF06D-56B1-4068-91C5-0ECFEFD8C45E}"/>
              </a:ext>
            </a:extLst>
          </p:cNvPr>
          <p:cNvSpPr>
            <a:spLocks xmlns:a="http://schemas.openxmlformats.org/drawingml/2006/main" noGrp="1"/>
          </p:cNvSpPr>
          <p:nvPr/>
        </p:nvSpPr>
        <p:spPr>
          <a:xfrm xmlns:a="http://schemas.openxmlformats.org/drawingml/2006/main">
            <a:off x="5619750" y="4362450"/>
            <a:ext cx="552450" cy="457200"/>
          </a:xfrm>
          <a:prstGeom xmlns:a="http://schemas.openxmlformats.org/drawingml/2006/main" prst="roundRect">
            <a:avLst>
              <a:gd name="adj" fmla="val 16667"/>
            </a:avLst>
          </a:prstGeom>
          <a:solidFill xmlns:a="http://schemas.openxmlformats.org/drawingml/2006/main">
            <a:srgbClr val="7C2D12"/>
          </a:solidFill>
          <a:ln xmlns:a="http://schemas.openxmlformats.org/drawingml/2006/main" w="11430">
            <a:solidFill>
              <a:srgbClr val="B45309"/>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ED7AA"/>
                </a:solidFill>
                <a:latin typeface="Arial"/>
                <a:ea typeface="Arial"/>
                <a:cs typeface="Arial"/>
              </a:defRPr>
            </a:pPr>
            <a:r>
              <a:rPr sz="1275" b="1">
                <a:solidFill>
                  <a:srgbClr val="FED7AA"/>
                </a:solidFill>
                <a:latin typeface="Arial"/>
                <a:ea typeface="Arial"/>
                <a:cs typeface="Arial"/>
              </a:rPr>
              <a:t>65</a:t>
            </a:r>
          </a:p>
        </p:txBody>
      </p:sp>
      <p:sp>
        <p:nvSpPr>
          <p:cNvPr id="21" name="">
            <a:extLst xmlns:a="http://schemas.openxmlformats.org/drawingml/2006/main">
              <a:ext uri="{FF2B5EF4-FFF2-40B4-BE49-F238E27FC236}">
                <a16:creationId xmlns:a16="http://schemas.microsoft.com/office/drawing/2014/main" id="{666CBD9F-C4F5-405D-AEB7-5F475F1B7D38}"/>
              </a:ext>
            </a:extLst>
          </p:cNvPr>
          <p:cNvSpPr>
            <a:spLocks xmlns:a="http://schemas.openxmlformats.org/drawingml/2006/main" noGrp="1"/>
          </p:cNvSpPr>
          <p:nvPr/>
        </p:nvSpPr>
        <p:spPr>
          <a:xfrm xmlns:a="http://schemas.openxmlformats.org/drawingml/2006/main">
            <a:off x="6324600" y="4362450"/>
            <a:ext cx="552450" cy="457200"/>
          </a:xfrm>
          <a:prstGeom xmlns:a="http://schemas.openxmlformats.org/drawingml/2006/main" prst="roundRect">
            <a:avLst>
              <a:gd name="adj" fmla="val 16667"/>
            </a:avLst>
          </a:prstGeom>
          <a:solidFill xmlns:a="http://schemas.openxmlformats.org/drawingml/2006/main">
            <a:srgbClr val="132A42"/>
          </a:solidFill>
          <a:ln xmlns:a="http://schemas.openxmlformats.org/drawingml/2006/main" w="11430">
            <a:solidFill>
              <a:srgbClr val="2B526E"/>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BFD8EC"/>
                </a:solidFill>
                <a:latin typeface="Arial"/>
                <a:ea typeface="Arial"/>
                <a:cs typeface="Arial"/>
              </a:defRPr>
            </a:pPr>
            <a:r>
              <a:rPr sz="1275" b="1">
                <a:solidFill>
                  <a:srgbClr val="BFD8EC"/>
                </a:solidFill>
                <a:latin typeface="Arial"/>
                <a:ea typeface="Arial"/>
                <a:cs typeface="Arial"/>
              </a:rPr>
              <a:t>72</a:t>
            </a:r>
          </a:p>
        </p:txBody>
      </p:sp>
      <p:sp>
        <p:nvSpPr>
          <p:cNvPr id="22" name="text">
            <a:extLst xmlns:a="http://schemas.openxmlformats.org/drawingml/2006/main">
              <a:ext uri="{FF2B5EF4-FFF2-40B4-BE49-F238E27FC236}">
                <a16:creationId xmlns:a16="http://schemas.microsoft.com/office/drawing/2014/main" id="{CDD5FF91-3CBF-432B-B3FE-A13711DCC95C}"/>
              </a:ext>
            </a:extLst>
          </p:cNvPr>
          <p:cNvSpPr>
            <a:spLocks xmlns:a="http://schemas.openxmlformats.org/drawingml/2006/main" noGrp="1"/>
          </p:cNvSpPr>
          <p:nvPr/>
        </p:nvSpPr>
        <p:spPr>
          <a:xfrm xmlns:a="http://schemas.openxmlformats.org/drawingml/2006/main">
            <a:off x="685800" y="49530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F9BB2"/>
                </a:solidFill>
                <a:latin typeface="Arial"/>
                <a:ea typeface="Arial"/>
                <a:cs typeface="Arial"/>
              </a:defRPr>
            </a:pPr>
            <a:r>
              <a:rPr sz="975" b="0">
                <a:solidFill>
                  <a:srgbClr val="7F9BB2"/>
                </a:solidFill>
                <a:latin typeface="Arial"/>
                <a:ea typeface="Arial"/>
                <a:cs typeface="Arial"/>
              </a:rPr>
              <a:t>CBC ciphertext block  /  16 bytes</a:t>
            </a:r>
          </a:p>
        </p:txBody>
      </p:sp>
      <p:sp>
        <p:nvSpPr>
          <p:cNvPr id="23" name="text">
            <a:extLst xmlns:a="http://schemas.openxmlformats.org/drawingml/2006/main">
              <a:ext uri="{FF2B5EF4-FFF2-40B4-BE49-F238E27FC236}">
                <a16:creationId xmlns:a16="http://schemas.microsoft.com/office/drawing/2014/main" id="{8B75E111-B59A-4839-A1A2-748F5794C1D0}"/>
              </a:ext>
            </a:extLst>
          </p:cNvPr>
          <p:cNvSpPr>
            <a:spLocks xmlns:a="http://schemas.openxmlformats.org/drawingml/2006/main" noGrp="1"/>
          </p:cNvSpPr>
          <p:nvPr/>
        </p:nvSpPr>
        <p:spPr>
          <a:xfrm xmlns:a="http://schemas.openxmlformats.org/drawingml/2006/main">
            <a:off x="685800" y="60198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AFC4D5"/>
                </a:solidFill>
                <a:latin typeface="Arial"/>
                <a:ea typeface="Arial"/>
                <a:cs typeface="Arial"/>
              </a:defRPr>
            </a:pPr>
            <a:r>
              <a:rPr sz="1125" b="0">
                <a:solidFill>
                  <a:srgbClr val="AFC4D5"/>
                </a:solidFill>
                <a:latin typeface="Arial"/>
                <a:ea typeface="Arial"/>
                <a:cs typeface="Arial"/>
              </a:rPr>
              <a:t>zhuhe  ·  HDU 23320116  ·  20 October 2026</a:t>
            </a:r>
          </a:p>
        </p:txBody>
      </p:sp>
      <p:sp>
        <p:nvSpPr>
          <p:cNvPr id="24" name="text">
            <a:extLst xmlns:a="http://schemas.openxmlformats.org/drawingml/2006/main">
              <a:ext uri="{FF2B5EF4-FFF2-40B4-BE49-F238E27FC236}">
                <a16:creationId xmlns:a16="http://schemas.microsoft.com/office/drawing/2014/main" id="{AB9F0773-5E3B-40D1-BFA4-BF647D9BC777}"/>
              </a:ext>
            </a:extLst>
          </p:cNvPr>
          <p:cNvSpPr>
            <a:spLocks xmlns:a="http://schemas.openxmlformats.org/drawingml/2006/main" noGrp="1"/>
          </p:cNvSpPr>
          <p:nvPr/>
        </p:nvSpPr>
        <p:spPr>
          <a:xfrm xmlns:a="http://schemas.openxmlformats.org/drawingml/2006/main">
            <a:off x="8191500" y="6019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REPORT + PUBLIC PRESENTATION</a:t>
            </a:r>
          </a:p>
        </p:txBody>
      </p:sp>
    </p:spTree>
    <p:extLst>
      <p:ext uri="{BB962C8B-B14F-4D97-AF65-F5344CB8AC3E}">
        <p14:creationId xmlns:p14="http://schemas.microsoft.com/office/powerpoint/2010/main" val="1864630840"/>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50D52ADF-B9CF-48E2-9806-D653D0C81A4E}"/>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Encryption without integrity</a:t>
            </a:r>
          </a:p>
        </p:txBody>
      </p:sp>
      <p:sp>
        <p:nvSpPr>
          <p:cNvPr id="2" name="text">
            <a:extLst xmlns:a="http://schemas.openxmlformats.org/drawingml/2006/main">
              <a:ext uri="{FF2B5EF4-FFF2-40B4-BE49-F238E27FC236}">
                <a16:creationId xmlns:a16="http://schemas.microsoft.com/office/drawing/2014/main" id="{C1331F76-946C-4AF3-99B0-5494D6C2C8EE}"/>
              </a:ext>
            </a:extLst>
          </p:cNvPr>
          <p:cNvSpPr>
            <a:spLocks xmlns:a="http://schemas.openxmlformats.org/drawingml/2006/main" noGrp="1"/>
          </p:cNvSpPr>
          <p:nvPr/>
        </p:nvSpPr>
        <p:spPr>
          <a:xfrm xmlns:a="http://schemas.openxmlformats.org/drawingml/2006/main">
            <a:off x="609600" y="11620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071"/>
                </a:solidFill>
                <a:latin typeface="Arial"/>
                <a:ea typeface="Arial"/>
                <a:cs typeface="Arial"/>
              </a:defRPr>
            </a:pPr>
            <a:r>
              <a:rPr sz="1575" b="0">
                <a:solidFill>
                  <a:srgbClr val="526071"/>
                </a:solidFill>
                <a:latin typeface="Arial"/>
                <a:ea typeface="Arial"/>
                <a:cs typeface="Arial"/>
              </a:rPr>
              <a:t>CBC hides the plaintext. It does not prove that the ciphertext was created by the server.</a:t>
            </a:r>
          </a:p>
        </p:txBody>
      </p:sp>
      <p:sp>
        <p:nvSpPr>
          <p:cNvPr id="3" name="">
            <a:extLst xmlns:a="http://schemas.openxmlformats.org/drawingml/2006/main">
              <a:ext uri="{FF2B5EF4-FFF2-40B4-BE49-F238E27FC236}">
                <a16:creationId xmlns:a16="http://schemas.microsoft.com/office/drawing/2014/main" id="{3EDE4D43-D9D5-4BEA-B245-93418FFD4DDF}"/>
              </a:ext>
            </a:extLst>
          </p:cNvPr>
          <p:cNvSpPr>
            <a:spLocks xmlns:a="http://schemas.openxmlformats.org/drawingml/2006/main" noGrp="1"/>
          </p:cNvSpPr>
          <p:nvPr/>
        </p:nvSpPr>
        <p:spPr>
          <a:xfrm xmlns:a="http://schemas.openxmlformats.org/drawingml/2006/main">
            <a:off x="609600" y="2190750"/>
            <a:ext cx="3048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4" name="text">
            <a:extLst xmlns:a="http://schemas.openxmlformats.org/drawingml/2006/main">
              <a:ext uri="{FF2B5EF4-FFF2-40B4-BE49-F238E27FC236}">
                <a16:creationId xmlns:a16="http://schemas.microsoft.com/office/drawing/2014/main" id="{79EE4B86-16C2-4A90-85C8-CF13EC6F9329}"/>
              </a:ext>
            </a:extLst>
          </p:cNvPr>
          <p:cNvSpPr>
            <a:spLocks xmlns:a="http://schemas.openxmlformats.org/drawingml/2006/main" noGrp="1"/>
          </p:cNvSpPr>
          <p:nvPr/>
        </p:nvSpPr>
        <p:spPr>
          <a:xfrm xmlns:a="http://schemas.openxmlformats.org/drawingml/2006/main">
            <a:off x="609600" y="24003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CONFIDENTIALITY</a:t>
            </a:r>
          </a:p>
        </p:txBody>
      </p:sp>
      <p:sp>
        <p:nvSpPr>
          <p:cNvPr id="5" name="text">
            <a:extLst xmlns:a="http://schemas.openxmlformats.org/drawingml/2006/main">
              <a:ext uri="{FF2B5EF4-FFF2-40B4-BE49-F238E27FC236}">
                <a16:creationId xmlns:a16="http://schemas.microsoft.com/office/drawing/2014/main" id="{73AE3C45-B820-44B1-8CE7-AFA9CC27941D}"/>
              </a:ext>
            </a:extLst>
          </p:cNvPr>
          <p:cNvSpPr>
            <a:spLocks xmlns:a="http://schemas.openxmlformats.org/drawingml/2006/main" noGrp="1"/>
          </p:cNvSpPr>
          <p:nvPr/>
        </p:nvSpPr>
        <p:spPr>
          <a:xfrm xmlns:a="http://schemas.openxmlformats.org/drawingml/2006/main">
            <a:off x="609600" y="27622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0243E"/>
                </a:solidFill>
                <a:latin typeface="Arial"/>
                <a:ea typeface="Arial"/>
                <a:cs typeface="Arial"/>
              </a:defRPr>
            </a:pPr>
            <a:r>
              <a:rPr sz="1800" b="1">
                <a:solidFill>
                  <a:srgbClr val="10243E"/>
                </a:solidFill>
                <a:latin typeface="Arial"/>
                <a:ea typeface="Arial"/>
                <a:cs typeface="Arial"/>
              </a:rPr>
              <a:t>AES-CBC protects the bytes from being read directly.</a:t>
            </a:r>
          </a:p>
        </p:txBody>
      </p:sp>
      <p:sp>
        <p:nvSpPr>
          <p:cNvPr id="6" name="">
            <a:extLst xmlns:a="http://schemas.openxmlformats.org/drawingml/2006/main">
              <a:ext uri="{FF2B5EF4-FFF2-40B4-BE49-F238E27FC236}">
                <a16:creationId xmlns:a16="http://schemas.microsoft.com/office/drawing/2014/main" id="{628D1C78-CB6F-4800-8694-23A809F59741}"/>
              </a:ext>
            </a:extLst>
          </p:cNvPr>
          <p:cNvSpPr>
            <a:spLocks xmlns:a="http://schemas.openxmlformats.org/drawingml/2006/main" noGrp="1"/>
          </p:cNvSpPr>
          <p:nvPr/>
        </p:nvSpPr>
        <p:spPr>
          <a:xfrm xmlns:a="http://schemas.openxmlformats.org/drawingml/2006/main">
            <a:off x="3867150" y="3200400"/>
            <a:ext cx="419100" cy="209550"/>
          </a:xfrm>
          <a:prstGeom xmlns:a="http://schemas.openxmlformats.org/drawingml/2006/main" prst="rightArrow">
            <a:avLst/>
          </a:prstGeom>
          <a:solidFill xmlns:a="http://schemas.openxmlformats.org/drawingml/2006/main">
            <a:srgbClr val="9AA8B6"/>
          </a:solidFill>
          <a:ln xmlns:a="http://schemas.openxmlformats.org/drawingml/2006/main" w="0">
            <a:solidFill>
              <a:srgbClr val="9AA8B6"/>
            </a:solidFill>
            <a:prstDash val="solid"/>
          </a:ln>
        </p:spPr>
      </p:sp>
      <p:sp>
        <p:nvSpPr>
          <p:cNvPr id="7" name="">
            <a:extLst xmlns:a="http://schemas.openxmlformats.org/drawingml/2006/main">
              <a:ext uri="{FF2B5EF4-FFF2-40B4-BE49-F238E27FC236}">
                <a16:creationId xmlns:a16="http://schemas.microsoft.com/office/drawing/2014/main" id="{B3B311FC-0F3B-4A5A-B924-0DD0CEA82D36}"/>
              </a:ext>
            </a:extLst>
          </p:cNvPr>
          <p:cNvSpPr>
            <a:spLocks xmlns:a="http://schemas.openxmlformats.org/drawingml/2006/main" noGrp="1"/>
          </p:cNvSpPr>
          <p:nvPr/>
        </p:nvSpPr>
        <p:spPr>
          <a:xfrm xmlns:a="http://schemas.openxmlformats.org/drawingml/2006/main">
            <a:off x="4495800" y="2190750"/>
            <a:ext cx="3048000" cy="38100"/>
          </a:xfrm>
          <a:prstGeom xmlns:a="http://schemas.openxmlformats.org/drawingml/2006/main" prst="rect">
            <a:avLst/>
          </a:prstGeom>
          <a:solidFill xmlns:a="http://schemas.openxmlformats.org/drawingml/2006/main">
            <a:srgbClr val="B45309"/>
          </a:solidFill>
          <a:ln xmlns:a="http://schemas.openxmlformats.org/drawingml/2006/main" w="0">
            <a:solidFill>
              <a:srgbClr val="B45309"/>
            </a:solidFill>
            <a:prstDash val="solid"/>
          </a:ln>
        </p:spPr>
      </p:sp>
      <p:sp>
        <p:nvSpPr>
          <p:cNvPr id="8" name="text">
            <a:extLst xmlns:a="http://schemas.openxmlformats.org/drawingml/2006/main">
              <a:ext uri="{FF2B5EF4-FFF2-40B4-BE49-F238E27FC236}">
                <a16:creationId xmlns:a16="http://schemas.microsoft.com/office/drawing/2014/main" id="{E2BEF1B1-D033-4C6B-9F73-62D27A356ADA}"/>
              </a:ext>
            </a:extLst>
          </p:cNvPr>
          <p:cNvSpPr>
            <a:spLocks xmlns:a="http://schemas.openxmlformats.org/drawingml/2006/main" noGrp="1"/>
          </p:cNvSpPr>
          <p:nvPr/>
        </p:nvSpPr>
        <p:spPr>
          <a:xfrm xmlns:a="http://schemas.openxmlformats.org/drawingml/2006/main">
            <a:off x="4495800" y="24003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45309"/>
                </a:solidFill>
                <a:latin typeface="Arial"/>
                <a:ea typeface="Arial"/>
                <a:cs typeface="Arial"/>
              </a:defRPr>
            </a:pPr>
            <a:r>
              <a:rPr sz="975" b="1">
                <a:solidFill>
                  <a:srgbClr val="B45309"/>
                </a:solidFill>
                <a:latin typeface="Arial"/>
                <a:ea typeface="Arial"/>
                <a:cs typeface="Arial"/>
              </a:rPr>
              <a:t>INTEGRITY</a:t>
            </a:r>
          </a:p>
        </p:txBody>
      </p:sp>
      <p:sp>
        <p:nvSpPr>
          <p:cNvPr id="9" name="text">
            <a:extLst xmlns:a="http://schemas.openxmlformats.org/drawingml/2006/main">
              <a:ext uri="{FF2B5EF4-FFF2-40B4-BE49-F238E27FC236}">
                <a16:creationId xmlns:a16="http://schemas.microsoft.com/office/drawing/2014/main" id="{0A91832C-4B70-4585-8148-20137B307C66}"/>
              </a:ext>
            </a:extLst>
          </p:cNvPr>
          <p:cNvSpPr>
            <a:spLocks xmlns:a="http://schemas.openxmlformats.org/drawingml/2006/main" noGrp="1"/>
          </p:cNvSpPr>
          <p:nvPr/>
        </p:nvSpPr>
        <p:spPr>
          <a:xfrm xmlns:a="http://schemas.openxmlformats.org/drawingml/2006/main">
            <a:off x="4495800" y="27622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0243E"/>
                </a:solidFill>
                <a:latin typeface="Arial"/>
                <a:ea typeface="Arial"/>
                <a:cs typeface="Arial"/>
              </a:defRPr>
            </a:pPr>
            <a:r>
              <a:rPr sz="1800" b="1">
                <a:solidFill>
                  <a:srgbClr val="10243E"/>
                </a:solidFill>
                <a:latin typeface="Arial"/>
                <a:ea typeface="Arial"/>
                <a:cs typeface="Arial"/>
              </a:rPr>
              <a:t>No MAC or tag detects a changed predecessor block.</a:t>
            </a:r>
          </a:p>
        </p:txBody>
      </p:sp>
      <p:sp>
        <p:nvSpPr>
          <p:cNvPr id="10" name="">
            <a:extLst xmlns:a="http://schemas.openxmlformats.org/drawingml/2006/main">
              <a:ext uri="{FF2B5EF4-FFF2-40B4-BE49-F238E27FC236}">
                <a16:creationId xmlns:a16="http://schemas.microsoft.com/office/drawing/2014/main" id="{9C036C5B-ECD4-4DD7-8C41-8B506ABEC77F}"/>
              </a:ext>
            </a:extLst>
          </p:cNvPr>
          <p:cNvSpPr>
            <a:spLocks xmlns:a="http://schemas.openxmlformats.org/drawingml/2006/main" noGrp="1"/>
          </p:cNvSpPr>
          <p:nvPr/>
        </p:nvSpPr>
        <p:spPr>
          <a:xfrm xmlns:a="http://schemas.openxmlformats.org/drawingml/2006/main">
            <a:off x="7753350" y="3200400"/>
            <a:ext cx="419100" cy="209550"/>
          </a:xfrm>
          <a:prstGeom xmlns:a="http://schemas.openxmlformats.org/drawingml/2006/main" prst="rightArrow">
            <a:avLst/>
          </a:prstGeom>
          <a:solidFill xmlns:a="http://schemas.openxmlformats.org/drawingml/2006/main">
            <a:srgbClr val="9AA8B6"/>
          </a:solidFill>
          <a:ln xmlns:a="http://schemas.openxmlformats.org/drawingml/2006/main" w="0">
            <a:solidFill>
              <a:srgbClr val="9AA8B6"/>
            </a:solidFill>
            <a:prstDash val="solid"/>
          </a:ln>
        </p:spPr>
      </p:sp>
      <p:sp>
        <p:nvSpPr>
          <p:cNvPr id="11" name="">
            <a:extLst xmlns:a="http://schemas.openxmlformats.org/drawingml/2006/main">
              <a:ext uri="{FF2B5EF4-FFF2-40B4-BE49-F238E27FC236}">
                <a16:creationId xmlns:a16="http://schemas.microsoft.com/office/drawing/2014/main" id="{8C6FC048-5349-4AAF-BD86-C60ECE8A2B86}"/>
              </a:ext>
            </a:extLst>
          </p:cNvPr>
          <p:cNvSpPr>
            <a:spLocks xmlns:a="http://schemas.openxmlformats.org/drawingml/2006/main" noGrp="1"/>
          </p:cNvSpPr>
          <p:nvPr/>
        </p:nvSpPr>
        <p:spPr>
          <a:xfrm xmlns:a="http://schemas.openxmlformats.org/drawingml/2006/main">
            <a:off x="8382000" y="2190750"/>
            <a:ext cx="3048000" cy="38100"/>
          </a:xfrm>
          <a:prstGeom xmlns:a="http://schemas.openxmlformats.org/drawingml/2006/main" prst="rect">
            <a:avLst/>
          </a:prstGeom>
          <a:solidFill xmlns:a="http://schemas.openxmlformats.org/drawingml/2006/main">
            <a:srgbClr val="991B1B"/>
          </a:solidFill>
          <a:ln xmlns:a="http://schemas.openxmlformats.org/drawingml/2006/main" w="0">
            <a:solidFill>
              <a:srgbClr val="991B1B"/>
            </a:solidFill>
            <a:prstDash val="solid"/>
          </a:ln>
        </p:spPr>
      </p:sp>
      <p:sp>
        <p:nvSpPr>
          <p:cNvPr id="12" name="text">
            <a:extLst xmlns:a="http://schemas.openxmlformats.org/drawingml/2006/main">
              <a:ext uri="{FF2B5EF4-FFF2-40B4-BE49-F238E27FC236}">
                <a16:creationId xmlns:a16="http://schemas.microsoft.com/office/drawing/2014/main" id="{7CBABF67-EEA0-4F24-80C4-9EE1D022AE0F}"/>
              </a:ext>
            </a:extLst>
          </p:cNvPr>
          <p:cNvSpPr>
            <a:spLocks xmlns:a="http://schemas.openxmlformats.org/drawingml/2006/main" noGrp="1"/>
          </p:cNvSpPr>
          <p:nvPr/>
        </p:nvSpPr>
        <p:spPr>
          <a:xfrm xmlns:a="http://schemas.openxmlformats.org/drawingml/2006/main">
            <a:off x="8382000" y="24003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991B1B"/>
                </a:solidFill>
                <a:latin typeface="Arial"/>
                <a:ea typeface="Arial"/>
                <a:cs typeface="Arial"/>
              </a:defRPr>
            </a:pPr>
            <a:r>
              <a:rPr sz="975" b="1">
                <a:solidFill>
                  <a:srgbClr val="991B1B"/>
                </a:solidFill>
                <a:latin typeface="Arial"/>
                <a:ea typeface="Arial"/>
                <a:cs typeface="Arial"/>
              </a:rPr>
              <a:t>AUTHORITY</a:t>
            </a:r>
          </a:p>
        </p:txBody>
      </p:sp>
      <p:sp>
        <p:nvSpPr>
          <p:cNvPr id="13" name="text">
            <a:extLst xmlns:a="http://schemas.openxmlformats.org/drawingml/2006/main">
              <a:ext uri="{FF2B5EF4-FFF2-40B4-BE49-F238E27FC236}">
                <a16:creationId xmlns:a16="http://schemas.microsoft.com/office/drawing/2014/main" id="{F7B42DAF-DB29-47CD-A8FF-3889E5F8B705}"/>
              </a:ext>
            </a:extLst>
          </p:cNvPr>
          <p:cNvSpPr>
            <a:spLocks xmlns:a="http://schemas.openxmlformats.org/drawingml/2006/main" noGrp="1"/>
          </p:cNvSpPr>
          <p:nvPr/>
        </p:nvSpPr>
        <p:spPr>
          <a:xfrm xmlns:a="http://schemas.openxmlformats.org/drawingml/2006/main">
            <a:off x="8382000" y="27622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0243E"/>
                </a:solidFill>
                <a:latin typeface="Arial"/>
                <a:ea typeface="Arial"/>
                <a:cs typeface="Arial"/>
              </a:defRPr>
            </a:pPr>
            <a:r>
              <a:rPr sz="1800" b="1">
                <a:solidFill>
                  <a:srgbClr val="10243E"/>
                </a:solidFill>
                <a:latin typeface="Arial"/>
                <a:ea typeface="Arial"/>
                <a:cs typeface="Arial"/>
              </a:rPr>
              <a:t>The server decrypts and trusts the resulting role.</a:t>
            </a:r>
          </a:p>
        </p:txBody>
      </p:sp>
      <p:sp>
        <p:nvSpPr>
          <p:cNvPr id="14" name="">
            <a:extLst xmlns:a="http://schemas.openxmlformats.org/drawingml/2006/main">
              <a:ext uri="{FF2B5EF4-FFF2-40B4-BE49-F238E27FC236}">
                <a16:creationId xmlns:a16="http://schemas.microsoft.com/office/drawing/2014/main" id="{A6B86F0E-47C1-4CC1-B629-2E2A21CD7524}"/>
              </a:ext>
            </a:extLst>
          </p:cNvPr>
          <p:cNvSpPr>
            <a:spLocks xmlns:a="http://schemas.openxmlformats.org/drawingml/2006/main" noGrp="1"/>
          </p:cNvSpPr>
          <p:nvPr/>
        </p:nvSpPr>
        <p:spPr>
          <a:xfrm xmlns:a="http://schemas.openxmlformats.org/drawingml/2006/main">
            <a:off x="609600" y="4686300"/>
            <a:ext cx="10972800" cy="9525"/>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15" name="text">
            <a:extLst xmlns:a="http://schemas.openxmlformats.org/drawingml/2006/main">
              <a:ext uri="{FF2B5EF4-FFF2-40B4-BE49-F238E27FC236}">
                <a16:creationId xmlns:a16="http://schemas.microsoft.com/office/drawing/2014/main" id="{5FBE6986-940F-41B5-A2AF-E0C9F2A3CD62}"/>
              </a:ext>
            </a:extLst>
          </p:cNvPr>
          <p:cNvSpPr>
            <a:spLocks xmlns:a="http://schemas.openxmlformats.org/drawingml/2006/main" noGrp="1"/>
          </p:cNvSpPr>
          <p:nvPr/>
        </p:nvSpPr>
        <p:spPr>
          <a:xfrm xmlns:a="http://schemas.openxmlformats.org/drawingml/2006/main">
            <a:off x="609600" y="5067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43E"/>
                </a:solidFill>
                <a:latin typeface="Arial"/>
                <a:ea typeface="Arial"/>
                <a:cs typeface="Arial"/>
              </a:defRPr>
            </a:pPr>
            <a:r>
              <a:rPr sz="2700" b="1">
                <a:solidFill>
                  <a:srgbClr val="10243E"/>
                </a:solidFill>
                <a:latin typeface="Arial"/>
                <a:ea typeface="Arial"/>
                <a:cs typeface="Arial"/>
              </a:rPr>
              <a:t>The cipher is not broken. The construction is.</a:t>
            </a:r>
          </a:p>
        </p:txBody>
      </p:sp>
      <p:sp>
        <p:nvSpPr>
          <p:cNvPr id="16" name="slide-number">
            <a:extLst xmlns:a="http://schemas.openxmlformats.org/drawingml/2006/main">
              <a:ext uri="{FF2B5EF4-FFF2-40B4-BE49-F238E27FC236}">
                <a16:creationId xmlns:a16="http://schemas.microsoft.com/office/drawing/2014/main" id="{05D9C308-9491-4135-AF85-66F7FEB3A300}"/>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02</a:t>
            </a:r>
          </a:p>
        </p:txBody>
      </p:sp>
    </p:spTree>
    <p:extLst>
      <p:ext uri="{BB962C8B-B14F-4D97-AF65-F5344CB8AC3E}">
        <p14:creationId xmlns:p14="http://schemas.microsoft.com/office/powerpoint/2010/main" val="18555359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E57DFE7-B59E-4FED-9BBC-E51A6892FE23}"/>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How CBC decryption chains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1b700185714e1b"/>
          <a:stretch xmlns:a="http://schemas.openxmlformats.org/drawingml/2006/main"/>
        </p:blipFill>
        <p:spPr>
          <a:xfrm xmlns:a="http://schemas.openxmlformats.org/drawingml/2006/main">
            <a:off x="619125" y="991183"/>
            <a:ext cx="10953750" cy="4837534"/>
          </a:xfrm>
          <a:prstGeom xmlns:a="http://schemas.openxmlformats.org/drawingml/2006/main" prst="rect">
            <a:avLst/>
          </a:prstGeom>
        </p:spPr>
      </p:pic>
      <p:sp>
        <p:nvSpPr>
          <p:cNvPr id="3" name="text">
            <a:extLst xmlns:a="http://schemas.openxmlformats.org/drawingml/2006/main">
              <a:ext uri="{FF2B5EF4-FFF2-40B4-BE49-F238E27FC236}">
                <a16:creationId xmlns:a16="http://schemas.microsoft.com/office/drawing/2014/main" id="{E40C59A5-788B-4157-8381-150924401A9E}"/>
              </a:ext>
            </a:extLst>
          </p:cNvPr>
          <p:cNvSpPr>
            <a:spLocks xmlns:a="http://schemas.openxmlformats.org/drawingml/2006/main" noGrp="1"/>
          </p:cNvSpPr>
          <p:nvPr/>
        </p:nvSpPr>
        <p:spPr>
          <a:xfrm xmlns:a="http://schemas.openxmlformats.org/drawingml/2006/main">
            <a:off x="609600" y="61150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0243E"/>
                </a:solidFill>
                <a:latin typeface="Arial"/>
                <a:ea typeface="Arial"/>
                <a:cs typeface="Arial"/>
              </a:defRPr>
            </a:pPr>
            <a:r>
              <a:rPr sz="1500" b="1">
                <a:solidFill>
                  <a:srgbClr val="10243E"/>
                </a:solidFill>
                <a:latin typeface="Arial"/>
                <a:ea typeface="Arial"/>
                <a:cs typeface="Arial"/>
              </a:rPr>
              <a:t>The attacker controls the previous block. The key stays secret.</a:t>
            </a:r>
          </a:p>
        </p:txBody>
      </p:sp>
      <p:sp>
        <p:nvSpPr>
          <p:cNvPr id="4" name="slide-number">
            <a:extLst xmlns:a="http://schemas.openxmlformats.org/drawingml/2006/main">
              <a:ext uri="{FF2B5EF4-FFF2-40B4-BE49-F238E27FC236}">
                <a16:creationId xmlns:a16="http://schemas.microsoft.com/office/drawing/2014/main" id="{2722B7B6-7AA0-4B01-9967-22DAD904E4D3}"/>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03</a:t>
            </a:r>
          </a:p>
        </p:txBody>
      </p:sp>
    </p:spTree>
    <p:extLst>
      <p:ext uri="{BB962C8B-B14F-4D97-AF65-F5344CB8AC3E}">
        <p14:creationId xmlns:p14="http://schemas.microsoft.com/office/powerpoint/2010/main" val="1382480551"/>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4CBED105-0B57-47EA-9710-11608A7A25E7}"/>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The padding oracle</a:t>
            </a:r>
          </a:p>
        </p:txBody>
      </p:sp>
      <p:sp>
        <p:nvSpPr>
          <p:cNvPr id="2" name="text">
            <a:extLst xmlns:a="http://schemas.openxmlformats.org/drawingml/2006/main">
              <a:ext uri="{FF2B5EF4-FFF2-40B4-BE49-F238E27FC236}">
                <a16:creationId xmlns:a16="http://schemas.microsoft.com/office/drawing/2014/main" id="{611DE2E4-E57B-4D44-A594-8E19902F056E}"/>
              </a:ext>
            </a:extLst>
          </p:cNvPr>
          <p:cNvSpPr>
            <a:spLocks xmlns:a="http://schemas.openxmlformats.org/drawingml/2006/main" noGrp="1"/>
          </p:cNvSpPr>
          <p:nvPr/>
        </p:nvSpPr>
        <p:spPr>
          <a:xfrm xmlns:a="http://schemas.openxmlformats.org/drawingml/2006/main">
            <a:off x="609600" y="11049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C9D9E6"/>
                </a:solidFill>
                <a:latin typeface="Arial"/>
                <a:ea typeface="Arial"/>
                <a:cs typeface="Arial"/>
              </a:defRPr>
            </a:pPr>
            <a:r>
              <a:rPr sz="1500" b="0">
                <a:solidFill>
                  <a:srgbClr val="C9D9E6"/>
                </a:solidFill>
                <a:latin typeface="Arial"/>
                <a:ea typeface="Arial"/>
                <a:cs typeface="Arial"/>
              </a:rPr>
              <a:t>A modified predecessor block produces one of two observable outcomes.</a:t>
            </a:r>
          </a:p>
        </p:txBody>
      </p:sp>
      <p:sp>
        <p:nvSpPr>
          <p:cNvPr id="3" name="">
            <a:extLst xmlns:a="http://schemas.openxmlformats.org/drawingml/2006/main">
              <a:ext uri="{FF2B5EF4-FFF2-40B4-BE49-F238E27FC236}">
                <a16:creationId xmlns:a16="http://schemas.microsoft.com/office/drawing/2014/main" id="{A508297C-53FB-4C6D-A90B-8348BE53159F}"/>
              </a:ext>
            </a:extLst>
          </p:cNvPr>
          <p:cNvSpPr>
            <a:spLocks xmlns:a="http://schemas.openxmlformats.org/drawingml/2006/main" noGrp="1"/>
          </p:cNvSpPr>
          <p:nvPr/>
        </p:nvSpPr>
        <p:spPr>
          <a:xfrm xmlns:a="http://schemas.openxmlformats.org/drawingml/2006/main">
            <a:off x="609600" y="2019300"/>
            <a:ext cx="3143250" cy="1352550"/>
          </a:xfrm>
          <a:prstGeom xmlns:a="http://schemas.openxmlformats.org/drawingml/2006/main" prst="roundRect">
            <a:avLst>
              <a:gd name="adj" fmla="val 8451"/>
            </a:avLst>
          </a:prstGeom>
          <a:solidFill xmlns:a="http://schemas.openxmlformats.org/drawingml/2006/main">
            <a:srgbClr val="111D2F"/>
          </a:solidFill>
          <a:ln xmlns:a="http://schemas.openxmlformats.org/drawingml/2006/main" w="11430">
            <a:solidFill>
              <a:srgbClr val="294967"/>
            </a:solidFill>
            <a:prstDash val="solid"/>
          </a:ln>
        </p:spPr>
      </p:sp>
      <p:sp>
        <p:nvSpPr>
          <p:cNvPr id="4" name="">
            <a:extLst xmlns:a="http://schemas.openxmlformats.org/drawingml/2006/main">
              <a:ext uri="{FF2B5EF4-FFF2-40B4-BE49-F238E27FC236}">
                <a16:creationId xmlns:a16="http://schemas.microsoft.com/office/drawing/2014/main" id="{A2EE1E99-78FF-47A7-B62F-01CA1F5AEC0D}"/>
              </a:ext>
            </a:extLst>
          </p:cNvPr>
          <p:cNvSpPr>
            <a:spLocks xmlns:a="http://schemas.openxmlformats.org/drawingml/2006/main" noGrp="1"/>
          </p:cNvSpPr>
          <p:nvPr/>
        </p:nvSpPr>
        <p:spPr>
          <a:xfrm xmlns:a="http://schemas.openxmlformats.org/drawingml/2006/main">
            <a:off x="4514850" y="2019300"/>
            <a:ext cx="2857500" cy="1352550"/>
          </a:xfrm>
          <a:prstGeom xmlns:a="http://schemas.openxmlformats.org/drawingml/2006/main" prst="roundRect">
            <a:avLst>
              <a:gd name="adj" fmla="val 8451"/>
            </a:avLst>
          </a:prstGeom>
          <a:solidFill xmlns:a="http://schemas.openxmlformats.org/drawingml/2006/main">
            <a:srgbClr val="111D2F"/>
          </a:solidFill>
          <a:ln xmlns:a="http://schemas.openxmlformats.org/drawingml/2006/main" w="11430">
            <a:solidFill>
              <a:srgbClr val="294967"/>
            </a:solidFill>
            <a:prstDash val="solid"/>
          </a:ln>
        </p:spPr>
      </p:sp>
      <p:sp>
        <p:nvSpPr>
          <p:cNvPr id="5" name="">
            <a:extLst xmlns:a="http://schemas.openxmlformats.org/drawingml/2006/main">
              <a:ext uri="{FF2B5EF4-FFF2-40B4-BE49-F238E27FC236}">
                <a16:creationId xmlns:a16="http://schemas.microsoft.com/office/drawing/2014/main" id="{094A20C6-1737-4B45-AC5E-A00EBB8F40A5}"/>
              </a:ext>
            </a:extLst>
          </p:cNvPr>
          <p:cNvSpPr>
            <a:spLocks xmlns:a="http://schemas.openxmlformats.org/drawingml/2006/main" noGrp="1"/>
          </p:cNvSpPr>
          <p:nvPr/>
        </p:nvSpPr>
        <p:spPr>
          <a:xfrm xmlns:a="http://schemas.openxmlformats.org/drawingml/2006/main">
            <a:off x="8134350" y="2019300"/>
            <a:ext cx="3448050" cy="1352550"/>
          </a:xfrm>
          <a:prstGeom xmlns:a="http://schemas.openxmlformats.org/drawingml/2006/main" prst="roundRect">
            <a:avLst>
              <a:gd name="adj" fmla="val 8451"/>
            </a:avLst>
          </a:prstGeom>
          <a:solidFill xmlns:a="http://schemas.openxmlformats.org/drawingml/2006/main">
            <a:srgbClr val="111D2F"/>
          </a:solidFill>
          <a:ln xmlns:a="http://schemas.openxmlformats.org/drawingml/2006/main" w="11430">
            <a:solidFill>
              <a:srgbClr val="294967"/>
            </a:solidFill>
            <a:prstDash val="solid"/>
          </a:ln>
        </p:spPr>
      </p:sp>
      <p:sp>
        <p:nvSpPr>
          <p:cNvPr id="6" name="text">
            <a:extLst xmlns:a="http://schemas.openxmlformats.org/drawingml/2006/main">
              <a:ext uri="{FF2B5EF4-FFF2-40B4-BE49-F238E27FC236}">
                <a16:creationId xmlns:a16="http://schemas.microsoft.com/office/drawing/2014/main" id="{08EC9494-82EB-4AAB-AA3A-375E001BB657}"/>
              </a:ext>
            </a:extLst>
          </p:cNvPr>
          <p:cNvSpPr>
            <a:spLocks xmlns:a="http://schemas.openxmlformats.org/drawingml/2006/main" noGrp="1"/>
          </p:cNvSpPr>
          <p:nvPr/>
        </p:nvSpPr>
        <p:spPr>
          <a:xfrm xmlns:a="http://schemas.openxmlformats.org/drawingml/2006/main">
            <a:off x="819150" y="22288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MODIFIED CIPHERTEXT</a:t>
            </a:r>
          </a:p>
        </p:txBody>
      </p:sp>
      <p:sp>
        <p:nvSpPr>
          <p:cNvPr id="7" name="text">
            <a:extLst xmlns:a="http://schemas.openxmlformats.org/drawingml/2006/main">
              <a:ext uri="{FF2B5EF4-FFF2-40B4-BE49-F238E27FC236}">
                <a16:creationId xmlns:a16="http://schemas.microsoft.com/office/drawing/2014/main" id="{B10C3A75-81AC-439F-87C1-FB1B3C0CC103}"/>
              </a:ext>
            </a:extLst>
          </p:cNvPr>
          <p:cNvSpPr>
            <a:spLocks xmlns:a="http://schemas.openxmlformats.org/drawingml/2006/main" noGrp="1"/>
          </p:cNvSpPr>
          <p:nvPr/>
        </p:nvSpPr>
        <p:spPr>
          <a:xfrm xmlns:a="http://schemas.openxmlformats.org/drawingml/2006/main">
            <a:off x="819150" y="2552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FFFFFF"/>
                </a:solidFill>
                <a:latin typeface="Arial"/>
                <a:ea typeface="Arial"/>
                <a:cs typeface="Arial"/>
              </a:defRPr>
            </a:pPr>
            <a:r>
              <a:rPr sz="2250" b="1">
                <a:solidFill>
                  <a:srgbClr val="FFFFFF"/>
                </a:solidFill>
                <a:latin typeface="Arial"/>
                <a:ea typeface="Arial"/>
                <a:cs typeface="Arial"/>
              </a:rPr>
              <a:t>C' || C</a:t>
            </a:r>
          </a:p>
        </p:txBody>
      </p:sp>
      <p:sp>
        <p:nvSpPr>
          <p:cNvPr id="8" name="text">
            <a:extLst xmlns:a="http://schemas.openxmlformats.org/drawingml/2006/main">
              <a:ext uri="{FF2B5EF4-FFF2-40B4-BE49-F238E27FC236}">
                <a16:creationId xmlns:a16="http://schemas.microsoft.com/office/drawing/2014/main" id="{E3B039F9-6290-4D48-8648-4F09AFF1D4AF}"/>
              </a:ext>
            </a:extLst>
          </p:cNvPr>
          <p:cNvSpPr>
            <a:spLocks xmlns:a="http://schemas.openxmlformats.org/drawingml/2006/main" noGrp="1"/>
          </p:cNvSpPr>
          <p:nvPr/>
        </p:nvSpPr>
        <p:spPr>
          <a:xfrm xmlns:a="http://schemas.openxmlformats.org/drawingml/2006/main">
            <a:off x="4724400" y="2228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PADDING CHECK</a:t>
            </a:r>
          </a:p>
        </p:txBody>
      </p:sp>
      <p:sp>
        <p:nvSpPr>
          <p:cNvPr id="9" name="text">
            <a:extLst xmlns:a="http://schemas.openxmlformats.org/drawingml/2006/main">
              <a:ext uri="{FF2B5EF4-FFF2-40B4-BE49-F238E27FC236}">
                <a16:creationId xmlns:a16="http://schemas.microsoft.com/office/drawing/2014/main" id="{E669FE8C-DBCA-42F4-A71C-36A586FA6FDC}"/>
              </a:ext>
            </a:extLst>
          </p:cNvPr>
          <p:cNvSpPr>
            <a:spLocks xmlns:a="http://schemas.openxmlformats.org/drawingml/2006/main" noGrp="1"/>
          </p:cNvSpPr>
          <p:nvPr/>
        </p:nvSpPr>
        <p:spPr>
          <a:xfrm xmlns:a="http://schemas.openxmlformats.org/drawingml/2006/main">
            <a:off x="4724400" y="25527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valid / invalid</a:t>
            </a:r>
          </a:p>
        </p:txBody>
      </p:sp>
      <p:sp>
        <p:nvSpPr>
          <p:cNvPr id="10" name="text">
            <a:extLst xmlns:a="http://schemas.openxmlformats.org/drawingml/2006/main">
              <a:ext uri="{FF2B5EF4-FFF2-40B4-BE49-F238E27FC236}">
                <a16:creationId xmlns:a16="http://schemas.microsoft.com/office/drawing/2014/main" id="{1AAA10E9-257E-456B-85E5-AFC47AF1AF1C}"/>
              </a:ext>
            </a:extLst>
          </p:cNvPr>
          <p:cNvSpPr>
            <a:spLocks xmlns:a="http://schemas.openxmlformats.org/drawingml/2006/main" noGrp="1"/>
          </p:cNvSpPr>
          <p:nvPr/>
        </p:nvSpPr>
        <p:spPr>
          <a:xfrm xmlns:a="http://schemas.openxmlformats.org/drawingml/2006/main">
            <a:off x="8343900" y="222885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OBSERVABLE RESULT</a:t>
            </a:r>
          </a:p>
        </p:txBody>
      </p:sp>
      <p:sp>
        <p:nvSpPr>
          <p:cNvPr id="11" name="text">
            <a:extLst xmlns:a="http://schemas.openxmlformats.org/drawingml/2006/main">
              <a:ext uri="{FF2B5EF4-FFF2-40B4-BE49-F238E27FC236}">
                <a16:creationId xmlns:a16="http://schemas.microsoft.com/office/drawing/2014/main" id="{6985E8F7-218C-4D2B-86F1-A4CCE1B61886}"/>
              </a:ext>
            </a:extLst>
          </p:cNvPr>
          <p:cNvSpPr>
            <a:spLocks xmlns:a="http://schemas.openxmlformats.org/drawingml/2006/main" noGrp="1"/>
          </p:cNvSpPr>
          <p:nvPr/>
        </p:nvSpPr>
        <p:spPr>
          <a:xfrm xmlns:a="http://schemas.openxmlformats.org/drawingml/2006/main">
            <a:off x="8343900" y="2552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FCA5A5"/>
                </a:solidFill>
                <a:latin typeface="Arial"/>
                <a:ea typeface="Arial"/>
                <a:cs typeface="Arial"/>
              </a:defRPr>
            </a:pPr>
            <a:r>
              <a:rPr sz="2250" b="1">
                <a:solidFill>
                  <a:srgbClr val="FCA5A5"/>
                </a:solidFill>
                <a:latin typeface="Arial"/>
                <a:ea typeface="Arial"/>
                <a:cs typeface="Arial"/>
              </a:rPr>
              <a:t>one bit</a:t>
            </a:r>
          </a:p>
        </p:txBody>
      </p:sp>
      <p:cxnSp>
        <p:nvCxnSpPr>
          <p:cNvPr id="30" name=""/>
          <p:cNvCxnSpPr>
            <a:stCxn xmlns:a="http://schemas.openxmlformats.org/drawingml/2006/main" id="3" idx="3"/>
            <a:endCxn xmlns:a="http://schemas.openxmlformats.org/drawingml/2006/main" id="4" idx="1"/>
          </p:cNvCxnSpPr>
          <p:nvPr/>
        </p:nvCxnSpPr>
        <p:spPr>
          <a:xfrm xmlns:a="http://schemas.openxmlformats.org/drawingml/2006/main">
            <a:off x="3752850" y="2695575"/>
            <a:ext cx="762000" cy="0"/>
          </a:xfrm>
          <a:prstGeom xmlns:a="http://schemas.openxmlformats.org/drawingml/2006/main" prst="straightConnector1">
            <a:avLst/>
          </a:prstGeom>
          <a:ln xmlns:a="http://schemas.openxmlformats.org/drawingml/2006/main" w="19050">
            <a:solidFill>
              <a:srgbClr val="8DB2CF"/>
            </a:solidFill>
            <a:prstDash val="solid"/>
            <a:headEnd type="triangle" w="sm" len="sm"/>
          </a:ln>
        </p:spPr>
      </p:cxn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7372350" y="2695575"/>
            <a:ext cx="762000" cy="0"/>
          </a:xfrm>
          <a:prstGeom xmlns:a="http://schemas.openxmlformats.org/drawingml/2006/main" prst="straightConnector1">
            <a:avLst/>
          </a:prstGeom>
          <a:ln xmlns:a="http://schemas.openxmlformats.org/drawingml/2006/main" w="19050">
            <a:solidFill>
              <a:srgbClr val="8DB2CF"/>
            </a:solidFill>
            <a:prstDash val="solid"/>
            <a:headEnd type="triangle" w="sm" len="sm"/>
          </a:ln>
        </p:spPr>
      </p:cxnSp>
      <p:sp>
        <p:nvSpPr>
          <p:cNvPr id="14" name="text">
            <a:extLst xmlns:a="http://schemas.openxmlformats.org/drawingml/2006/main">
              <a:ext uri="{FF2B5EF4-FFF2-40B4-BE49-F238E27FC236}">
                <a16:creationId xmlns:a16="http://schemas.microsoft.com/office/drawing/2014/main" id="{4B7A7364-A164-4230-B819-9E7B67DE998D}"/>
              </a:ext>
            </a:extLst>
          </p:cNvPr>
          <p:cNvSpPr>
            <a:spLocks xmlns:a="http://schemas.openxmlformats.org/drawingml/2006/main" noGrp="1"/>
          </p:cNvSpPr>
          <p:nvPr/>
        </p:nvSpPr>
        <p:spPr>
          <a:xfrm xmlns:a="http://schemas.openxmlformats.org/drawingml/2006/main">
            <a:off x="609600" y="37719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9E7F3"/>
                </a:solidFill>
                <a:latin typeface="Arial"/>
                <a:ea typeface="Arial"/>
                <a:cs typeface="Arial"/>
              </a:defRPr>
            </a:pPr>
            <a:r>
              <a:rPr sz="1500" b="0">
                <a:solidFill>
                  <a:srgbClr val="D9E7F3"/>
                </a:solidFill>
                <a:latin typeface="Arial"/>
                <a:ea typeface="Arial"/>
                <a:cs typeface="Arial"/>
              </a:rPr>
              <a:t>The channel can be a message, status code, redirect, response length, or timing.</a:t>
            </a:r>
          </a:p>
        </p:txBody>
      </p:sp>
      <p:sp>
        <p:nvSpPr>
          <p:cNvPr id="15" name="text">
            <a:extLst xmlns:a="http://schemas.openxmlformats.org/drawingml/2006/main">
              <a:ext uri="{FF2B5EF4-FFF2-40B4-BE49-F238E27FC236}">
                <a16:creationId xmlns:a16="http://schemas.microsoft.com/office/drawing/2014/main" id="{1F3D02A9-F0A4-4870-A0DE-23F27E4EF8CA}"/>
              </a:ext>
            </a:extLst>
          </p:cNvPr>
          <p:cNvSpPr>
            <a:spLocks xmlns:a="http://schemas.openxmlformats.org/drawingml/2006/main" noGrp="1"/>
          </p:cNvSpPr>
          <p:nvPr/>
        </p:nvSpPr>
        <p:spPr>
          <a:xfrm xmlns:a="http://schemas.openxmlformats.org/drawingml/2006/main">
            <a:off x="609600" y="44577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7DD3FC"/>
                </a:solidFill>
                <a:latin typeface="Arial"/>
                <a:ea typeface="Arial"/>
                <a:cs typeface="Arial"/>
              </a:defRPr>
            </a:pPr>
            <a:r>
              <a:rPr sz="1800" b="1">
                <a:solidFill>
                  <a:srgbClr val="7DD3FC"/>
                </a:solidFill>
                <a:latin typeface="Arial"/>
                <a:ea typeface="Arial"/>
                <a:cs typeface="Arial"/>
              </a:rPr>
              <a:t>PKCS#7:   01   ·   02 02   ·   03 03 03   ·   ...   ·   10 × 16</a:t>
            </a:r>
          </a:p>
        </p:txBody>
      </p:sp>
      <p:sp>
        <p:nvSpPr>
          <p:cNvPr id="16" name="">
            <a:extLst xmlns:a="http://schemas.openxmlformats.org/drawingml/2006/main">
              <a:ext uri="{FF2B5EF4-FFF2-40B4-BE49-F238E27FC236}">
                <a16:creationId xmlns:a16="http://schemas.microsoft.com/office/drawing/2014/main" id="{F955B4BF-3462-4C22-8B84-3325A92ABA06}"/>
              </a:ext>
            </a:extLst>
          </p:cNvPr>
          <p:cNvSpPr>
            <a:spLocks xmlns:a="http://schemas.openxmlformats.org/drawingml/2006/main" noGrp="1"/>
          </p:cNvSpPr>
          <p:nvPr/>
        </p:nvSpPr>
        <p:spPr>
          <a:xfrm xmlns:a="http://schemas.openxmlformats.org/drawingml/2006/main">
            <a:off x="609600" y="5162550"/>
            <a:ext cx="10972800" cy="9525"/>
          </a:xfrm>
          <a:prstGeom xmlns:a="http://schemas.openxmlformats.org/drawingml/2006/main" prst="rect">
            <a:avLst/>
          </a:prstGeom>
          <a:solidFill xmlns:a="http://schemas.openxmlformats.org/drawingml/2006/main">
            <a:srgbClr val="294967"/>
          </a:solidFill>
          <a:ln xmlns:a="http://schemas.openxmlformats.org/drawingml/2006/main" w="0">
            <a:solidFill>
              <a:srgbClr val="294967"/>
            </a:solidFill>
            <a:prstDash val="solid"/>
          </a:ln>
        </p:spPr>
      </p:sp>
      <p:sp>
        <p:nvSpPr>
          <p:cNvPr id="17" name="text">
            <a:extLst xmlns:a="http://schemas.openxmlformats.org/drawingml/2006/main">
              <a:ext uri="{FF2B5EF4-FFF2-40B4-BE49-F238E27FC236}">
                <a16:creationId xmlns:a16="http://schemas.microsoft.com/office/drawing/2014/main" id="{07B205DF-25B3-4B14-B4AB-3C113C1F3F94}"/>
              </a:ext>
            </a:extLst>
          </p:cNvPr>
          <p:cNvSpPr>
            <a:spLocks xmlns:a="http://schemas.openxmlformats.org/drawingml/2006/main" noGrp="1"/>
          </p:cNvSpPr>
          <p:nvPr/>
        </p:nvSpPr>
        <p:spPr>
          <a:xfrm xmlns:a="http://schemas.openxmlformats.org/drawingml/2006/main">
            <a:off x="609600" y="546735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Arial"/>
                <a:ea typeface="Arial"/>
                <a:cs typeface="Arial"/>
              </a:defRPr>
            </a:pPr>
            <a:r>
              <a:rPr sz="1950" b="1">
                <a:solidFill>
                  <a:srgbClr val="FFFFFF"/>
                </a:solidFill>
                <a:latin typeface="Arial"/>
                <a:ea typeface="Arial"/>
                <a:cs typeface="Arial"/>
              </a:rPr>
              <a:t>The application reveals which branch was taken.</a:t>
            </a:r>
          </a:p>
        </p:txBody>
      </p:sp>
      <p:sp>
        <p:nvSpPr>
          <p:cNvPr id="18" name="slide-number">
            <a:extLst xmlns:a="http://schemas.openxmlformats.org/drawingml/2006/main">
              <a:ext uri="{FF2B5EF4-FFF2-40B4-BE49-F238E27FC236}">
                <a16:creationId xmlns:a16="http://schemas.microsoft.com/office/drawing/2014/main" id="{3164CC01-32CA-421A-8DDB-96615472EB0C}"/>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8BA6BD"/>
                </a:solidFill>
                <a:latin typeface="Arial"/>
                <a:ea typeface="Arial"/>
                <a:cs typeface="Arial"/>
              </a:defRPr>
            </a:pPr>
            <a:r>
              <a:rPr sz="825" b="0">
                <a:solidFill>
                  <a:srgbClr val="8BA6BD"/>
                </a:solidFill>
                <a:latin typeface="Arial"/>
                <a:ea typeface="Arial"/>
                <a:cs typeface="Arial"/>
              </a:rPr>
              <a:t>04</a:t>
            </a:r>
          </a:p>
        </p:txBody>
      </p:sp>
    </p:spTree>
    <p:extLst>
      <p:ext uri="{BB962C8B-B14F-4D97-AF65-F5344CB8AC3E}">
        <p14:creationId xmlns:p14="http://schemas.microsoft.com/office/powerpoint/2010/main" val="188285634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1" name="title">
            <a:extLst xmlns:a="http://schemas.openxmlformats.org/drawingml/2006/main">
              <a:ext uri="{FF2B5EF4-FFF2-40B4-BE49-F238E27FC236}">
                <a16:creationId xmlns:a16="http://schemas.microsoft.com/office/drawing/2014/main" id="{B3820029-CCC5-464E-A01B-0F3085080274}"/>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Recover one byte</a:t>
            </a:r>
          </a:p>
        </p:txBody>
      </p:sp>
      <p:sp>
        <p:nvSpPr>
          <p:cNvPr id="2" name="text">
            <a:extLst xmlns:a="http://schemas.openxmlformats.org/drawingml/2006/main">
              <a:ext uri="{FF2B5EF4-FFF2-40B4-BE49-F238E27FC236}">
                <a16:creationId xmlns:a16="http://schemas.microsoft.com/office/drawing/2014/main" id="{B2E4C8A9-0264-4FBF-BB62-2454F0B36982}"/>
              </a:ext>
            </a:extLst>
          </p:cNvPr>
          <p:cNvSpPr>
            <a:spLocks xmlns:a="http://schemas.openxmlformats.org/drawingml/2006/main" noGrp="1"/>
          </p:cNvSpPr>
          <p:nvPr/>
        </p:nvSpPr>
        <p:spPr>
          <a:xfrm xmlns:a="http://schemas.openxmlformats.org/drawingml/2006/main">
            <a:off x="609600" y="12001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26071"/>
                </a:solidFill>
                <a:latin typeface="Arial"/>
                <a:ea typeface="Arial"/>
                <a:cs typeface="Arial"/>
              </a:defRPr>
            </a:pPr>
            <a:r>
              <a:rPr sz="900" b="1">
                <a:solidFill>
                  <a:srgbClr val="526071"/>
                </a:solidFill>
                <a:latin typeface="Arial"/>
                <a:ea typeface="Arial"/>
                <a:cs typeface="Arial"/>
              </a:rPr>
              <a:t>MODIFIED PREDECESSOR  C'</a:t>
            </a:r>
          </a:p>
        </p:txBody>
      </p:sp>
      <p:sp>
        <p:nvSpPr>
          <p:cNvPr id="3" name="">
            <a:extLst xmlns:a="http://schemas.openxmlformats.org/drawingml/2006/main">
              <a:ext uri="{FF2B5EF4-FFF2-40B4-BE49-F238E27FC236}">
                <a16:creationId xmlns:a16="http://schemas.microsoft.com/office/drawing/2014/main" id="{06D26FE1-D1B7-43AE-84C7-3A4DCD820642}"/>
              </a:ext>
            </a:extLst>
          </p:cNvPr>
          <p:cNvSpPr>
            <a:spLocks xmlns:a="http://schemas.openxmlformats.org/drawingml/2006/main" noGrp="1"/>
          </p:cNvSpPr>
          <p:nvPr/>
        </p:nvSpPr>
        <p:spPr>
          <a:xfrm xmlns:a="http://schemas.openxmlformats.org/drawingml/2006/main">
            <a:off x="6096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25E2B81-5E9E-4EAE-A333-0C3A0D15AD49}"/>
              </a:ext>
            </a:extLst>
          </p:cNvPr>
          <p:cNvSpPr>
            <a:spLocks xmlns:a="http://schemas.openxmlformats.org/drawingml/2006/main" noGrp="1"/>
          </p:cNvSpPr>
          <p:nvPr/>
        </p:nvSpPr>
        <p:spPr>
          <a:xfrm xmlns:a="http://schemas.openxmlformats.org/drawingml/2006/main">
            <a:off x="9334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83F84662-E5E4-480C-B6D4-02D0667FA197}"/>
              </a:ext>
            </a:extLst>
          </p:cNvPr>
          <p:cNvSpPr>
            <a:spLocks xmlns:a="http://schemas.openxmlformats.org/drawingml/2006/main" noGrp="1"/>
          </p:cNvSpPr>
          <p:nvPr/>
        </p:nvSpPr>
        <p:spPr>
          <a:xfrm xmlns:a="http://schemas.openxmlformats.org/drawingml/2006/main">
            <a:off x="12573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352C09C7-D97C-43F0-A825-36EAC2718CC7}"/>
              </a:ext>
            </a:extLst>
          </p:cNvPr>
          <p:cNvSpPr>
            <a:spLocks xmlns:a="http://schemas.openxmlformats.org/drawingml/2006/main" noGrp="1"/>
          </p:cNvSpPr>
          <p:nvPr/>
        </p:nvSpPr>
        <p:spPr>
          <a:xfrm xmlns:a="http://schemas.openxmlformats.org/drawingml/2006/main">
            <a:off x="15811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2C15E466-38B3-4592-8D3F-409CB3EF3651}"/>
              </a:ext>
            </a:extLst>
          </p:cNvPr>
          <p:cNvSpPr>
            <a:spLocks xmlns:a="http://schemas.openxmlformats.org/drawingml/2006/main" noGrp="1"/>
          </p:cNvSpPr>
          <p:nvPr/>
        </p:nvSpPr>
        <p:spPr>
          <a:xfrm xmlns:a="http://schemas.openxmlformats.org/drawingml/2006/main">
            <a:off x="19050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6C201843-8F02-4B1F-B041-A9D050D08933}"/>
              </a:ext>
            </a:extLst>
          </p:cNvPr>
          <p:cNvSpPr>
            <a:spLocks xmlns:a="http://schemas.openxmlformats.org/drawingml/2006/main" noGrp="1"/>
          </p:cNvSpPr>
          <p:nvPr/>
        </p:nvSpPr>
        <p:spPr>
          <a:xfrm xmlns:a="http://schemas.openxmlformats.org/drawingml/2006/main">
            <a:off x="22288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20A071DA-0B33-453E-986D-381B62FE90FF}"/>
              </a:ext>
            </a:extLst>
          </p:cNvPr>
          <p:cNvSpPr>
            <a:spLocks xmlns:a="http://schemas.openxmlformats.org/drawingml/2006/main" noGrp="1"/>
          </p:cNvSpPr>
          <p:nvPr/>
        </p:nvSpPr>
        <p:spPr>
          <a:xfrm xmlns:a="http://schemas.openxmlformats.org/drawingml/2006/main">
            <a:off x="25527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26AFA255-66E9-4E46-90F8-C84325894861}"/>
              </a:ext>
            </a:extLst>
          </p:cNvPr>
          <p:cNvSpPr>
            <a:spLocks xmlns:a="http://schemas.openxmlformats.org/drawingml/2006/main" noGrp="1"/>
          </p:cNvSpPr>
          <p:nvPr/>
        </p:nvSpPr>
        <p:spPr>
          <a:xfrm xmlns:a="http://schemas.openxmlformats.org/drawingml/2006/main">
            <a:off x="28765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4E21EB3-BE12-4642-BACF-E26E9E58379D}"/>
              </a:ext>
            </a:extLst>
          </p:cNvPr>
          <p:cNvSpPr>
            <a:spLocks xmlns:a="http://schemas.openxmlformats.org/drawingml/2006/main" noGrp="1"/>
          </p:cNvSpPr>
          <p:nvPr/>
        </p:nvSpPr>
        <p:spPr>
          <a:xfrm xmlns:a="http://schemas.openxmlformats.org/drawingml/2006/main">
            <a:off x="32004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FD557984-8A79-498A-B220-7937F8F49D82}"/>
              </a:ext>
            </a:extLst>
          </p:cNvPr>
          <p:cNvSpPr>
            <a:spLocks xmlns:a="http://schemas.openxmlformats.org/drawingml/2006/main" noGrp="1"/>
          </p:cNvSpPr>
          <p:nvPr/>
        </p:nvSpPr>
        <p:spPr>
          <a:xfrm xmlns:a="http://schemas.openxmlformats.org/drawingml/2006/main">
            <a:off x="35242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1B5841D3-BCA7-4349-AE7F-5BA61041FAB4}"/>
              </a:ext>
            </a:extLst>
          </p:cNvPr>
          <p:cNvSpPr>
            <a:spLocks xmlns:a="http://schemas.openxmlformats.org/drawingml/2006/main" noGrp="1"/>
          </p:cNvSpPr>
          <p:nvPr/>
        </p:nvSpPr>
        <p:spPr>
          <a:xfrm xmlns:a="http://schemas.openxmlformats.org/drawingml/2006/main">
            <a:off x="38481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DBC6596B-8F46-42D3-8242-BA87E1842E39}"/>
              </a:ext>
            </a:extLst>
          </p:cNvPr>
          <p:cNvSpPr>
            <a:spLocks xmlns:a="http://schemas.openxmlformats.org/drawingml/2006/main" noGrp="1"/>
          </p:cNvSpPr>
          <p:nvPr/>
        </p:nvSpPr>
        <p:spPr>
          <a:xfrm xmlns:a="http://schemas.openxmlformats.org/drawingml/2006/main">
            <a:off x="41719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68D87122-4092-4D53-8D09-623FD9E86D15}"/>
              </a:ext>
            </a:extLst>
          </p:cNvPr>
          <p:cNvSpPr>
            <a:spLocks xmlns:a="http://schemas.openxmlformats.org/drawingml/2006/main" noGrp="1"/>
          </p:cNvSpPr>
          <p:nvPr/>
        </p:nvSpPr>
        <p:spPr>
          <a:xfrm xmlns:a="http://schemas.openxmlformats.org/drawingml/2006/main">
            <a:off x="44958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1A4DA811-22D9-41E4-835A-26111712ED67}"/>
              </a:ext>
            </a:extLst>
          </p:cNvPr>
          <p:cNvSpPr>
            <a:spLocks xmlns:a="http://schemas.openxmlformats.org/drawingml/2006/main" noGrp="1"/>
          </p:cNvSpPr>
          <p:nvPr/>
        </p:nvSpPr>
        <p:spPr>
          <a:xfrm xmlns:a="http://schemas.openxmlformats.org/drawingml/2006/main">
            <a:off x="481965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A3CF4FA-0402-4BF1-BA0A-180C191338B9}"/>
              </a:ext>
            </a:extLst>
          </p:cNvPr>
          <p:cNvSpPr>
            <a:spLocks xmlns:a="http://schemas.openxmlformats.org/drawingml/2006/main" noGrp="1"/>
          </p:cNvSpPr>
          <p:nvPr/>
        </p:nvSpPr>
        <p:spPr>
          <a:xfrm xmlns:a="http://schemas.openxmlformats.org/drawingml/2006/main">
            <a:off x="5143500" y="1504950"/>
            <a:ext cx="266700" cy="4191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1430">
            <a:solidFill>
              <a:srgbClr val="AFC0C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44037E5C-6543-4028-8D6B-F77949D408A4}"/>
              </a:ext>
            </a:extLst>
          </p:cNvPr>
          <p:cNvSpPr>
            <a:spLocks xmlns:a="http://schemas.openxmlformats.org/drawingml/2006/main" noGrp="1"/>
          </p:cNvSpPr>
          <p:nvPr/>
        </p:nvSpPr>
        <p:spPr>
          <a:xfrm xmlns:a="http://schemas.openxmlformats.org/drawingml/2006/main">
            <a:off x="5467350" y="1504950"/>
            <a:ext cx="266700" cy="419100"/>
          </a:xfrm>
          <a:prstGeom xmlns:a="http://schemas.openxmlformats.org/drawingml/2006/main" prst="roundRect">
            <a:avLst>
              <a:gd name="adj" fmla="val 21429"/>
            </a:avLst>
          </a:prstGeom>
          <a:solidFill xmlns:a="http://schemas.openxmlformats.org/drawingml/2006/main">
            <a:srgbClr val="FFF1E8"/>
          </a:solidFill>
          <a:ln xmlns:a="http://schemas.openxmlformats.org/drawingml/2006/main" w="11430">
            <a:solidFill>
              <a:srgbClr val="B45309"/>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B45309"/>
                </a:solidFill>
                <a:latin typeface="Arial"/>
                <a:ea typeface="Arial"/>
                <a:cs typeface="Arial"/>
              </a:defRPr>
            </a:pPr>
            <a:r>
              <a:rPr sz="1500" b="1">
                <a:solidFill>
                  <a:srgbClr val="B45309"/>
                </a:solidFill>
                <a:latin typeface="Arial"/>
                <a:ea typeface="Arial"/>
                <a:cs typeface="Arial"/>
              </a:rPr>
              <a:t>g</a:t>
            </a:r>
          </a:p>
        </p:txBody>
      </p:sp>
      <p:sp>
        <p:nvSpPr>
          <p:cNvPr id="19" name="text">
            <a:extLst xmlns:a="http://schemas.openxmlformats.org/drawingml/2006/main">
              <a:ext uri="{FF2B5EF4-FFF2-40B4-BE49-F238E27FC236}">
                <a16:creationId xmlns:a16="http://schemas.microsoft.com/office/drawing/2014/main" id="{D6548088-0E09-4DB6-A2D1-4B7690C68C1D}"/>
              </a:ext>
            </a:extLst>
          </p:cNvPr>
          <p:cNvSpPr>
            <a:spLocks xmlns:a="http://schemas.openxmlformats.org/drawingml/2006/main" noGrp="1"/>
          </p:cNvSpPr>
          <p:nvPr/>
        </p:nvSpPr>
        <p:spPr>
          <a:xfrm xmlns:a="http://schemas.openxmlformats.org/drawingml/2006/main">
            <a:off x="609600" y="2266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26071"/>
                </a:solidFill>
                <a:latin typeface="Arial"/>
                <a:ea typeface="Arial"/>
                <a:cs typeface="Arial"/>
              </a:defRPr>
            </a:pPr>
            <a:r>
              <a:rPr sz="900" b="1">
                <a:solidFill>
                  <a:srgbClr val="526071"/>
                </a:solidFill>
                <a:latin typeface="Arial"/>
                <a:ea typeface="Arial"/>
                <a:cs typeface="Arial"/>
              </a:rPr>
              <a:t>UNCHANGED TARGET  C_i</a:t>
            </a:r>
          </a:p>
        </p:txBody>
      </p:sp>
      <p:sp>
        <p:nvSpPr>
          <p:cNvPr id="20" name="">
            <a:extLst xmlns:a="http://schemas.openxmlformats.org/drawingml/2006/main">
              <a:ext uri="{FF2B5EF4-FFF2-40B4-BE49-F238E27FC236}">
                <a16:creationId xmlns:a16="http://schemas.microsoft.com/office/drawing/2014/main" id="{C8611318-4AF3-4E9E-B564-069BE0EB5428}"/>
              </a:ext>
            </a:extLst>
          </p:cNvPr>
          <p:cNvSpPr>
            <a:spLocks xmlns:a="http://schemas.openxmlformats.org/drawingml/2006/main" noGrp="1"/>
          </p:cNvSpPr>
          <p:nvPr/>
        </p:nvSpPr>
        <p:spPr>
          <a:xfrm xmlns:a="http://schemas.openxmlformats.org/drawingml/2006/main">
            <a:off x="6096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1" name="">
            <a:extLst xmlns:a="http://schemas.openxmlformats.org/drawingml/2006/main">
              <a:ext uri="{FF2B5EF4-FFF2-40B4-BE49-F238E27FC236}">
                <a16:creationId xmlns:a16="http://schemas.microsoft.com/office/drawing/2014/main" id="{F6FCAFBF-0B67-48F5-BA82-8A29FD473005}"/>
              </a:ext>
            </a:extLst>
          </p:cNvPr>
          <p:cNvSpPr>
            <a:spLocks xmlns:a="http://schemas.openxmlformats.org/drawingml/2006/main" noGrp="1"/>
          </p:cNvSpPr>
          <p:nvPr/>
        </p:nvSpPr>
        <p:spPr>
          <a:xfrm xmlns:a="http://schemas.openxmlformats.org/drawingml/2006/main">
            <a:off x="9334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2" name="">
            <a:extLst xmlns:a="http://schemas.openxmlformats.org/drawingml/2006/main">
              <a:ext uri="{FF2B5EF4-FFF2-40B4-BE49-F238E27FC236}">
                <a16:creationId xmlns:a16="http://schemas.microsoft.com/office/drawing/2014/main" id="{18E1371D-961B-4C89-9308-3A09040DA8CD}"/>
              </a:ext>
            </a:extLst>
          </p:cNvPr>
          <p:cNvSpPr>
            <a:spLocks xmlns:a="http://schemas.openxmlformats.org/drawingml/2006/main" noGrp="1"/>
          </p:cNvSpPr>
          <p:nvPr/>
        </p:nvSpPr>
        <p:spPr>
          <a:xfrm xmlns:a="http://schemas.openxmlformats.org/drawingml/2006/main">
            <a:off x="12573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3" name="">
            <a:extLst xmlns:a="http://schemas.openxmlformats.org/drawingml/2006/main">
              <a:ext uri="{FF2B5EF4-FFF2-40B4-BE49-F238E27FC236}">
                <a16:creationId xmlns:a16="http://schemas.microsoft.com/office/drawing/2014/main" id="{3616B5CB-C75D-4D49-9557-111CC52EBAB1}"/>
              </a:ext>
            </a:extLst>
          </p:cNvPr>
          <p:cNvSpPr>
            <a:spLocks xmlns:a="http://schemas.openxmlformats.org/drawingml/2006/main" noGrp="1"/>
          </p:cNvSpPr>
          <p:nvPr/>
        </p:nvSpPr>
        <p:spPr>
          <a:xfrm xmlns:a="http://schemas.openxmlformats.org/drawingml/2006/main">
            <a:off x="15811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4" name="">
            <a:extLst xmlns:a="http://schemas.openxmlformats.org/drawingml/2006/main">
              <a:ext uri="{FF2B5EF4-FFF2-40B4-BE49-F238E27FC236}">
                <a16:creationId xmlns:a16="http://schemas.microsoft.com/office/drawing/2014/main" id="{C882419B-1EF3-4C61-9935-0B67320873E9}"/>
              </a:ext>
            </a:extLst>
          </p:cNvPr>
          <p:cNvSpPr>
            <a:spLocks xmlns:a="http://schemas.openxmlformats.org/drawingml/2006/main" noGrp="1"/>
          </p:cNvSpPr>
          <p:nvPr/>
        </p:nvSpPr>
        <p:spPr>
          <a:xfrm xmlns:a="http://schemas.openxmlformats.org/drawingml/2006/main">
            <a:off x="19050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5" name="">
            <a:extLst xmlns:a="http://schemas.openxmlformats.org/drawingml/2006/main">
              <a:ext uri="{FF2B5EF4-FFF2-40B4-BE49-F238E27FC236}">
                <a16:creationId xmlns:a16="http://schemas.microsoft.com/office/drawing/2014/main" id="{CA34CBBE-6F65-4AB1-A85D-9EA03CEED6A6}"/>
              </a:ext>
            </a:extLst>
          </p:cNvPr>
          <p:cNvSpPr>
            <a:spLocks xmlns:a="http://schemas.openxmlformats.org/drawingml/2006/main" noGrp="1"/>
          </p:cNvSpPr>
          <p:nvPr/>
        </p:nvSpPr>
        <p:spPr>
          <a:xfrm xmlns:a="http://schemas.openxmlformats.org/drawingml/2006/main">
            <a:off x="22288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6" name="">
            <a:extLst xmlns:a="http://schemas.openxmlformats.org/drawingml/2006/main">
              <a:ext uri="{FF2B5EF4-FFF2-40B4-BE49-F238E27FC236}">
                <a16:creationId xmlns:a16="http://schemas.microsoft.com/office/drawing/2014/main" id="{17868631-BA5C-4E2F-9214-0373D75C30C7}"/>
              </a:ext>
            </a:extLst>
          </p:cNvPr>
          <p:cNvSpPr>
            <a:spLocks xmlns:a="http://schemas.openxmlformats.org/drawingml/2006/main" noGrp="1"/>
          </p:cNvSpPr>
          <p:nvPr/>
        </p:nvSpPr>
        <p:spPr>
          <a:xfrm xmlns:a="http://schemas.openxmlformats.org/drawingml/2006/main">
            <a:off x="25527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7" name="">
            <a:extLst xmlns:a="http://schemas.openxmlformats.org/drawingml/2006/main">
              <a:ext uri="{FF2B5EF4-FFF2-40B4-BE49-F238E27FC236}">
                <a16:creationId xmlns:a16="http://schemas.microsoft.com/office/drawing/2014/main" id="{D4CEC129-6760-4747-B0A2-AB5B0DEB43F6}"/>
              </a:ext>
            </a:extLst>
          </p:cNvPr>
          <p:cNvSpPr>
            <a:spLocks xmlns:a="http://schemas.openxmlformats.org/drawingml/2006/main" noGrp="1"/>
          </p:cNvSpPr>
          <p:nvPr/>
        </p:nvSpPr>
        <p:spPr>
          <a:xfrm xmlns:a="http://schemas.openxmlformats.org/drawingml/2006/main">
            <a:off x="28765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8" name="">
            <a:extLst xmlns:a="http://schemas.openxmlformats.org/drawingml/2006/main">
              <a:ext uri="{FF2B5EF4-FFF2-40B4-BE49-F238E27FC236}">
                <a16:creationId xmlns:a16="http://schemas.microsoft.com/office/drawing/2014/main" id="{6FE38BB6-8F72-4154-8712-5818E1C11541}"/>
              </a:ext>
            </a:extLst>
          </p:cNvPr>
          <p:cNvSpPr>
            <a:spLocks xmlns:a="http://schemas.openxmlformats.org/drawingml/2006/main" noGrp="1"/>
          </p:cNvSpPr>
          <p:nvPr/>
        </p:nvSpPr>
        <p:spPr>
          <a:xfrm xmlns:a="http://schemas.openxmlformats.org/drawingml/2006/main">
            <a:off x="32004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29" name="">
            <a:extLst xmlns:a="http://schemas.openxmlformats.org/drawingml/2006/main">
              <a:ext uri="{FF2B5EF4-FFF2-40B4-BE49-F238E27FC236}">
                <a16:creationId xmlns:a16="http://schemas.microsoft.com/office/drawing/2014/main" id="{D3A3DF15-CD5D-4E8B-823D-BD0CF6EBD411}"/>
              </a:ext>
            </a:extLst>
          </p:cNvPr>
          <p:cNvSpPr>
            <a:spLocks xmlns:a="http://schemas.openxmlformats.org/drawingml/2006/main" noGrp="1"/>
          </p:cNvSpPr>
          <p:nvPr/>
        </p:nvSpPr>
        <p:spPr>
          <a:xfrm xmlns:a="http://schemas.openxmlformats.org/drawingml/2006/main">
            <a:off x="35242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0" name="">
            <a:extLst xmlns:a="http://schemas.openxmlformats.org/drawingml/2006/main">
              <a:ext uri="{FF2B5EF4-FFF2-40B4-BE49-F238E27FC236}">
                <a16:creationId xmlns:a16="http://schemas.microsoft.com/office/drawing/2014/main" id="{26493893-010E-4C85-BE1B-AFA75FB792BD}"/>
              </a:ext>
            </a:extLst>
          </p:cNvPr>
          <p:cNvSpPr>
            <a:spLocks xmlns:a="http://schemas.openxmlformats.org/drawingml/2006/main" noGrp="1"/>
          </p:cNvSpPr>
          <p:nvPr/>
        </p:nvSpPr>
        <p:spPr>
          <a:xfrm xmlns:a="http://schemas.openxmlformats.org/drawingml/2006/main">
            <a:off x="38481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1" name="">
            <a:extLst xmlns:a="http://schemas.openxmlformats.org/drawingml/2006/main">
              <a:ext uri="{FF2B5EF4-FFF2-40B4-BE49-F238E27FC236}">
                <a16:creationId xmlns:a16="http://schemas.microsoft.com/office/drawing/2014/main" id="{8D11E319-7585-4295-838D-73C5BF462F38}"/>
              </a:ext>
            </a:extLst>
          </p:cNvPr>
          <p:cNvSpPr>
            <a:spLocks xmlns:a="http://schemas.openxmlformats.org/drawingml/2006/main" noGrp="1"/>
          </p:cNvSpPr>
          <p:nvPr/>
        </p:nvSpPr>
        <p:spPr>
          <a:xfrm xmlns:a="http://schemas.openxmlformats.org/drawingml/2006/main">
            <a:off x="41719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2" name="">
            <a:extLst xmlns:a="http://schemas.openxmlformats.org/drawingml/2006/main">
              <a:ext uri="{FF2B5EF4-FFF2-40B4-BE49-F238E27FC236}">
                <a16:creationId xmlns:a16="http://schemas.microsoft.com/office/drawing/2014/main" id="{77737209-63D7-4D63-9FB3-82DCD0FF65FB}"/>
              </a:ext>
            </a:extLst>
          </p:cNvPr>
          <p:cNvSpPr>
            <a:spLocks xmlns:a="http://schemas.openxmlformats.org/drawingml/2006/main" noGrp="1"/>
          </p:cNvSpPr>
          <p:nvPr/>
        </p:nvSpPr>
        <p:spPr>
          <a:xfrm xmlns:a="http://schemas.openxmlformats.org/drawingml/2006/main">
            <a:off x="44958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3" name="">
            <a:extLst xmlns:a="http://schemas.openxmlformats.org/drawingml/2006/main">
              <a:ext uri="{FF2B5EF4-FFF2-40B4-BE49-F238E27FC236}">
                <a16:creationId xmlns:a16="http://schemas.microsoft.com/office/drawing/2014/main" id="{1EB44288-5C84-4D45-ABBB-32B56B67E078}"/>
              </a:ext>
            </a:extLst>
          </p:cNvPr>
          <p:cNvSpPr>
            <a:spLocks xmlns:a="http://schemas.openxmlformats.org/drawingml/2006/main" noGrp="1"/>
          </p:cNvSpPr>
          <p:nvPr/>
        </p:nvSpPr>
        <p:spPr>
          <a:xfrm xmlns:a="http://schemas.openxmlformats.org/drawingml/2006/main">
            <a:off x="48196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4" name="">
            <a:extLst xmlns:a="http://schemas.openxmlformats.org/drawingml/2006/main">
              <a:ext uri="{FF2B5EF4-FFF2-40B4-BE49-F238E27FC236}">
                <a16:creationId xmlns:a16="http://schemas.microsoft.com/office/drawing/2014/main" id="{08C91EF0-1302-46B1-A8D0-87A31B10150A}"/>
              </a:ext>
            </a:extLst>
          </p:cNvPr>
          <p:cNvSpPr>
            <a:spLocks xmlns:a="http://schemas.openxmlformats.org/drawingml/2006/main" noGrp="1"/>
          </p:cNvSpPr>
          <p:nvPr/>
        </p:nvSpPr>
        <p:spPr>
          <a:xfrm xmlns:a="http://schemas.openxmlformats.org/drawingml/2006/main">
            <a:off x="514350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5" name="">
            <a:extLst xmlns:a="http://schemas.openxmlformats.org/drawingml/2006/main">
              <a:ext uri="{FF2B5EF4-FFF2-40B4-BE49-F238E27FC236}">
                <a16:creationId xmlns:a16="http://schemas.microsoft.com/office/drawing/2014/main" id="{D97B3E59-C9D0-44E7-881F-8292EACD7B68}"/>
              </a:ext>
            </a:extLst>
          </p:cNvPr>
          <p:cNvSpPr>
            <a:spLocks xmlns:a="http://schemas.openxmlformats.org/drawingml/2006/main" noGrp="1"/>
          </p:cNvSpPr>
          <p:nvPr/>
        </p:nvSpPr>
        <p:spPr>
          <a:xfrm xmlns:a="http://schemas.openxmlformats.org/drawingml/2006/main">
            <a:off x="5467350" y="2571750"/>
            <a:ext cx="266700" cy="419100"/>
          </a:xfrm>
          <a:prstGeom xmlns:a="http://schemas.openxmlformats.org/drawingml/2006/main" prst="roundRect">
            <a:avLst>
              <a:gd name="adj" fmla="val 21429"/>
            </a:avLst>
          </a:prstGeom>
          <a:solidFill xmlns:a="http://schemas.openxmlformats.org/drawingml/2006/main">
            <a:srgbClr val="EAF1F7"/>
          </a:solidFill>
          <a:ln xmlns:a="http://schemas.openxmlformats.org/drawingml/2006/main" w="9525">
            <a:solidFill>
              <a:srgbClr val="1F5A94"/>
            </a:solidFill>
            <a:prstDash val="solid"/>
          </a:ln>
        </p:spPr>
      </p:sp>
      <p:sp>
        <p:nvSpPr>
          <p:cNvPr id="36" name="">
            <a:extLst xmlns:a="http://schemas.openxmlformats.org/drawingml/2006/main">
              <a:ext uri="{FF2B5EF4-FFF2-40B4-BE49-F238E27FC236}">
                <a16:creationId xmlns:a16="http://schemas.microsoft.com/office/drawing/2014/main" id="{139885ED-1481-4D86-815B-1B910873DD13}"/>
              </a:ext>
            </a:extLst>
          </p:cNvPr>
          <p:cNvSpPr>
            <a:spLocks xmlns:a="http://schemas.openxmlformats.org/drawingml/2006/main" noGrp="1"/>
          </p:cNvSpPr>
          <p:nvPr/>
        </p:nvSpPr>
        <p:spPr>
          <a:xfrm xmlns:a="http://schemas.openxmlformats.org/drawingml/2006/main">
            <a:off x="609600" y="3429000"/>
            <a:ext cx="4857750" cy="781050"/>
          </a:xfrm>
          <a:prstGeom xmlns:a="http://schemas.openxmlformats.org/drawingml/2006/main" prst="roundRect">
            <a:avLst>
              <a:gd name="adj" fmla="val 14634"/>
            </a:avLst>
          </a:prstGeom>
          <a:solidFill xmlns:a="http://schemas.openxmlformats.org/drawingml/2006/main">
            <a:srgbClr val="EAF1F7"/>
          </a:solidFill>
          <a:ln xmlns:a="http://schemas.openxmlformats.org/drawingml/2006/main" w="11430">
            <a:solidFill>
              <a:srgbClr val="AFC0CF"/>
            </a:solidFill>
            <a:prstDash val="solid"/>
          </a:ln>
        </p:spPr>
      </p:sp>
      <p:sp>
        <p:nvSpPr>
          <p:cNvPr id="37" name="text">
            <a:extLst xmlns:a="http://schemas.openxmlformats.org/drawingml/2006/main">
              <a:ext uri="{FF2B5EF4-FFF2-40B4-BE49-F238E27FC236}">
                <a16:creationId xmlns:a16="http://schemas.microsoft.com/office/drawing/2014/main" id="{05BA69B4-2C1A-4F0D-8966-4CC7396EB368}"/>
              </a:ext>
            </a:extLst>
          </p:cNvPr>
          <p:cNvSpPr>
            <a:spLocks xmlns:a="http://schemas.openxmlformats.org/drawingml/2006/main" noGrp="1"/>
          </p:cNvSpPr>
          <p:nvPr/>
        </p:nvSpPr>
        <p:spPr>
          <a:xfrm xmlns:a="http://schemas.openxmlformats.org/drawingml/2006/main">
            <a:off x="819150" y="36385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0243E"/>
                </a:solidFill>
                <a:latin typeface="Arial"/>
                <a:ea typeface="Arial"/>
                <a:cs typeface="Arial"/>
              </a:defRPr>
            </a:pPr>
            <a:r>
              <a:rPr sz="1650" b="1">
                <a:solidFill>
                  <a:srgbClr val="10243E"/>
                </a:solidFill>
                <a:latin typeface="Arial"/>
                <a:ea typeface="Arial"/>
                <a:cs typeface="Arial"/>
              </a:rPr>
              <a:t>The last plaintext byte must become 01.</a:t>
            </a:r>
          </a:p>
        </p:txBody>
      </p:sp>
      <p:sp>
        <p:nvSpPr>
          <p:cNvPr id="38" name="">
            <a:extLst xmlns:a="http://schemas.openxmlformats.org/drawingml/2006/main">
              <a:ext uri="{FF2B5EF4-FFF2-40B4-BE49-F238E27FC236}">
                <a16:creationId xmlns:a16="http://schemas.microsoft.com/office/drawing/2014/main" id="{798C17B7-A4CA-4A1D-90FD-C0AE36BD4D9C}"/>
              </a:ext>
            </a:extLst>
          </p:cNvPr>
          <p:cNvSpPr>
            <a:spLocks xmlns:a="http://schemas.openxmlformats.org/drawingml/2006/main" noGrp="1"/>
          </p:cNvSpPr>
          <p:nvPr/>
        </p:nvSpPr>
        <p:spPr>
          <a:xfrm xmlns:a="http://schemas.openxmlformats.org/drawingml/2006/main">
            <a:off x="6096000" y="1219200"/>
            <a:ext cx="9525" cy="419100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39" name="text">
            <a:extLst xmlns:a="http://schemas.openxmlformats.org/drawingml/2006/main">
              <a:ext uri="{FF2B5EF4-FFF2-40B4-BE49-F238E27FC236}">
                <a16:creationId xmlns:a16="http://schemas.microsoft.com/office/drawing/2014/main" id="{A8D78CBA-4099-4D2D-9C9B-FE27097DFEA4}"/>
              </a:ext>
            </a:extLst>
          </p:cNvPr>
          <p:cNvSpPr>
            <a:spLocks xmlns:a="http://schemas.openxmlformats.org/drawingml/2006/main" noGrp="1"/>
          </p:cNvSpPr>
          <p:nvPr/>
        </p:nvSpPr>
        <p:spPr>
          <a:xfrm xmlns:a="http://schemas.openxmlformats.org/drawingml/2006/main">
            <a:off x="6477000" y="1257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45309"/>
                </a:solidFill>
                <a:latin typeface="Arial"/>
                <a:ea typeface="Arial"/>
                <a:cs typeface="Arial"/>
              </a:defRPr>
            </a:pPr>
            <a:r>
              <a:rPr sz="975" b="1">
                <a:solidFill>
                  <a:srgbClr val="B45309"/>
                </a:solidFill>
                <a:latin typeface="Arial"/>
                <a:ea typeface="Arial"/>
                <a:cs typeface="Arial"/>
              </a:rPr>
              <a:t>01</a:t>
            </a:r>
          </a:p>
        </p:txBody>
      </p:sp>
      <p:sp>
        <p:nvSpPr>
          <p:cNvPr id="40" name="text">
            <a:extLst xmlns:a="http://schemas.openxmlformats.org/drawingml/2006/main">
              <a:ext uri="{FF2B5EF4-FFF2-40B4-BE49-F238E27FC236}">
                <a16:creationId xmlns:a16="http://schemas.microsoft.com/office/drawing/2014/main" id="{1573AF57-9E9C-4938-9249-E81A041FDC8A}"/>
              </a:ext>
            </a:extLst>
          </p:cNvPr>
          <p:cNvSpPr>
            <a:spLocks xmlns:a="http://schemas.openxmlformats.org/drawingml/2006/main" noGrp="1"/>
          </p:cNvSpPr>
          <p:nvPr/>
        </p:nvSpPr>
        <p:spPr>
          <a:xfrm xmlns:a="http://schemas.openxmlformats.org/drawingml/2006/main">
            <a:off x="6477000" y="15811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0243E"/>
                </a:solidFill>
                <a:latin typeface="Arial"/>
                <a:ea typeface="Arial"/>
                <a:cs typeface="Arial"/>
              </a:defRPr>
            </a:pPr>
            <a:r>
              <a:rPr sz="2100" b="1">
                <a:solidFill>
                  <a:srgbClr val="10243E"/>
                </a:solidFill>
                <a:latin typeface="Arial"/>
                <a:ea typeface="Arial"/>
                <a:cs typeface="Arial"/>
              </a:rPr>
              <a:t>I[15] = g xor 0x01</a:t>
            </a:r>
          </a:p>
        </p:txBody>
      </p:sp>
      <p:sp>
        <p:nvSpPr>
          <p:cNvPr id="41" name="text">
            <a:extLst xmlns:a="http://schemas.openxmlformats.org/drawingml/2006/main">
              <a:ext uri="{FF2B5EF4-FFF2-40B4-BE49-F238E27FC236}">
                <a16:creationId xmlns:a16="http://schemas.microsoft.com/office/drawing/2014/main" id="{E9BD7EE2-E281-4A50-AC91-9E6F12F6637D}"/>
              </a:ext>
            </a:extLst>
          </p:cNvPr>
          <p:cNvSpPr>
            <a:spLocks xmlns:a="http://schemas.openxmlformats.org/drawingml/2006/main" noGrp="1"/>
          </p:cNvSpPr>
          <p:nvPr/>
        </p:nvSpPr>
        <p:spPr>
          <a:xfrm xmlns:a="http://schemas.openxmlformats.org/drawingml/2006/main">
            <a:off x="6477000" y="22288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45309"/>
                </a:solidFill>
                <a:latin typeface="Arial"/>
                <a:ea typeface="Arial"/>
                <a:cs typeface="Arial"/>
              </a:defRPr>
            </a:pPr>
            <a:r>
              <a:rPr sz="975" b="1">
                <a:solidFill>
                  <a:srgbClr val="B45309"/>
                </a:solidFill>
                <a:latin typeface="Arial"/>
                <a:ea typeface="Arial"/>
                <a:cs typeface="Arial"/>
              </a:rPr>
              <a:t>02 02</a:t>
            </a:r>
          </a:p>
        </p:txBody>
      </p:sp>
      <p:sp>
        <p:nvSpPr>
          <p:cNvPr id="42" name="text">
            <a:extLst xmlns:a="http://schemas.openxmlformats.org/drawingml/2006/main">
              <a:ext uri="{FF2B5EF4-FFF2-40B4-BE49-F238E27FC236}">
                <a16:creationId xmlns:a16="http://schemas.microsoft.com/office/drawing/2014/main" id="{67F3FF3C-766E-4B60-A2ED-2B6F5EFF6237}"/>
              </a:ext>
            </a:extLst>
          </p:cNvPr>
          <p:cNvSpPr>
            <a:spLocks xmlns:a="http://schemas.openxmlformats.org/drawingml/2006/main" noGrp="1"/>
          </p:cNvSpPr>
          <p:nvPr/>
        </p:nvSpPr>
        <p:spPr>
          <a:xfrm xmlns:a="http://schemas.openxmlformats.org/drawingml/2006/main">
            <a:off x="6477000" y="25527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0243E"/>
                </a:solidFill>
                <a:latin typeface="Arial"/>
                <a:ea typeface="Arial"/>
                <a:cs typeface="Arial"/>
              </a:defRPr>
            </a:pPr>
            <a:r>
              <a:rPr sz="2100" b="1">
                <a:solidFill>
                  <a:srgbClr val="10243E"/>
                </a:solidFill>
                <a:latin typeface="Arial"/>
                <a:ea typeface="Arial"/>
                <a:cs typeface="Arial"/>
              </a:rPr>
              <a:t>I[14] = g xor 0x02</a:t>
            </a:r>
          </a:p>
        </p:txBody>
      </p:sp>
      <p:sp>
        <p:nvSpPr>
          <p:cNvPr id="43" name="text">
            <a:extLst xmlns:a="http://schemas.openxmlformats.org/drawingml/2006/main">
              <a:ext uri="{FF2B5EF4-FFF2-40B4-BE49-F238E27FC236}">
                <a16:creationId xmlns:a16="http://schemas.microsoft.com/office/drawing/2014/main" id="{2A565E7B-D2D2-4B2F-81A1-2429E9FCB090}"/>
              </a:ext>
            </a:extLst>
          </p:cNvPr>
          <p:cNvSpPr>
            <a:spLocks xmlns:a="http://schemas.openxmlformats.org/drawingml/2006/main" noGrp="1"/>
          </p:cNvSpPr>
          <p:nvPr/>
        </p:nvSpPr>
        <p:spPr>
          <a:xfrm xmlns:a="http://schemas.openxmlformats.org/drawingml/2006/main">
            <a:off x="6477000" y="32004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45309"/>
                </a:solidFill>
                <a:latin typeface="Arial"/>
                <a:ea typeface="Arial"/>
                <a:cs typeface="Arial"/>
              </a:defRPr>
            </a:pPr>
            <a:r>
              <a:rPr sz="975" b="1">
                <a:solidFill>
                  <a:srgbClr val="B45309"/>
                </a:solidFill>
                <a:latin typeface="Arial"/>
                <a:ea typeface="Arial"/>
                <a:cs typeface="Arial"/>
              </a:rPr>
              <a:t>03 03 03</a:t>
            </a:r>
          </a:p>
        </p:txBody>
      </p:sp>
      <p:sp>
        <p:nvSpPr>
          <p:cNvPr id="44" name="text">
            <a:extLst xmlns:a="http://schemas.openxmlformats.org/drawingml/2006/main">
              <a:ext uri="{FF2B5EF4-FFF2-40B4-BE49-F238E27FC236}">
                <a16:creationId xmlns:a16="http://schemas.microsoft.com/office/drawing/2014/main" id="{672C4657-59C0-4731-AF0D-B3820CFB289A}"/>
              </a:ext>
            </a:extLst>
          </p:cNvPr>
          <p:cNvSpPr>
            <a:spLocks xmlns:a="http://schemas.openxmlformats.org/drawingml/2006/main" noGrp="1"/>
          </p:cNvSpPr>
          <p:nvPr/>
        </p:nvSpPr>
        <p:spPr>
          <a:xfrm xmlns:a="http://schemas.openxmlformats.org/drawingml/2006/main">
            <a:off x="6477000" y="3524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0243E"/>
                </a:solidFill>
                <a:latin typeface="Arial"/>
                <a:ea typeface="Arial"/>
                <a:cs typeface="Arial"/>
              </a:defRPr>
            </a:pPr>
            <a:r>
              <a:rPr sz="2100" b="1">
                <a:solidFill>
                  <a:srgbClr val="10243E"/>
                </a:solidFill>
                <a:latin typeface="Arial"/>
                <a:ea typeface="Arial"/>
                <a:cs typeface="Arial"/>
              </a:rPr>
              <a:t>I[13] = g xor 0x03</a:t>
            </a:r>
          </a:p>
        </p:txBody>
      </p:sp>
      <p:sp>
        <p:nvSpPr>
          <p:cNvPr id="45" name="text">
            <a:extLst xmlns:a="http://schemas.openxmlformats.org/drawingml/2006/main">
              <a:ext uri="{FF2B5EF4-FFF2-40B4-BE49-F238E27FC236}">
                <a16:creationId xmlns:a16="http://schemas.microsoft.com/office/drawing/2014/main" id="{C6DE2F97-A0E5-4152-A64D-062AB0FD5454}"/>
              </a:ext>
            </a:extLst>
          </p:cNvPr>
          <p:cNvSpPr>
            <a:spLocks xmlns:a="http://schemas.openxmlformats.org/drawingml/2006/main" noGrp="1"/>
          </p:cNvSpPr>
          <p:nvPr/>
        </p:nvSpPr>
        <p:spPr>
          <a:xfrm xmlns:a="http://schemas.openxmlformats.org/drawingml/2006/main">
            <a:off x="6477000" y="41719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071"/>
                </a:solidFill>
                <a:latin typeface="Arial"/>
                <a:ea typeface="Arial"/>
                <a:cs typeface="Arial"/>
              </a:defRPr>
            </a:pPr>
            <a:r>
              <a:rPr sz="1425" b="0">
                <a:solidFill>
                  <a:srgbClr val="526071"/>
                </a:solidFill>
                <a:latin typeface="Arial"/>
                <a:ea typeface="Arial"/>
                <a:cs typeface="Arial"/>
              </a:rPr>
              <a:t>Repeat for all 16 positions.</a:t>
            </a:r>
          </a:p>
        </p:txBody>
      </p:sp>
      <p:sp>
        <p:nvSpPr>
          <p:cNvPr id="46" name="">
            <a:extLst xmlns:a="http://schemas.openxmlformats.org/drawingml/2006/main">
              <a:ext uri="{FF2B5EF4-FFF2-40B4-BE49-F238E27FC236}">
                <a16:creationId xmlns:a16="http://schemas.microsoft.com/office/drawing/2014/main" id="{B2FEDAB1-DCA7-46FF-818A-4E6FDA851116}"/>
              </a:ext>
            </a:extLst>
          </p:cNvPr>
          <p:cNvSpPr>
            <a:spLocks xmlns:a="http://schemas.openxmlformats.org/drawingml/2006/main" noGrp="1"/>
          </p:cNvSpPr>
          <p:nvPr/>
        </p:nvSpPr>
        <p:spPr>
          <a:xfrm xmlns:a="http://schemas.openxmlformats.org/drawingml/2006/main">
            <a:off x="609600" y="4591050"/>
            <a:ext cx="10972800" cy="9525"/>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7" name="text">
            <a:extLst xmlns:a="http://schemas.openxmlformats.org/drawingml/2006/main">
              <a:ext uri="{FF2B5EF4-FFF2-40B4-BE49-F238E27FC236}">
                <a16:creationId xmlns:a16="http://schemas.microsoft.com/office/drawing/2014/main" id="{FE1E51D7-B2E0-42D0-A2E7-A70D350DB31D}"/>
              </a:ext>
            </a:extLst>
          </p:cNvPr>
          <p:cNvSpPr>
            <a:spLocks xmlns:a="http://schemas.openxmlformats.org/drawingml/2006/main" noGrp="1"/>
          </p:cNvSpPr>
          <p:nvPr/>
        </p:nvSpPr>
        <p:spPr>
          <a:xfrm xmlns:a="http://schemas.openxmlformats.org/drawingml/2006/main">
            <a:off x="609600" y="487680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F766E"/>
                </a:solidFill>
                <a:latin typeface="Arial"/>
                <a:ea typeface="Arial"/>
                <a:cs typeface="Arial"/>
              </a:defRPr>
            </a:pPr>
            <a:r>
              <a:rPr sz="2700" b="1">
                <a:solidFill>
                  <a:srgbClr val="0F766E"/>
                </a:solidFill>
                <a:latin typeface="Arial"/>
                <a:ea typeface="Arial"/>
                <a:cs typeface="Arial"/>
              </a:rPr>
              <a:t>P[i] = I[i] xor C[i-1]</a:t>
            </a:r>
          </a:p>
        </p:txBody>
      </p:sp>
      <p:sp>
        <p:nvSpPr>
          <p:cNvPr id="48" name="text">
            <a:extLst xmlns:a="http://schemas.openxmlformats.org/drawingml/2006/main">
              <a:ext uri="{FF2B5EF4-FFF2-40B4-BE49-F238E27FC236}">
                <a16:creationId xmlns:a16="http://schemas.microsoft.com/office/drawing/2014/main" id="{D283F7AD-4D22-4859-BB8E-0CB6088EC811}"/>
              </a:ext>
            </a:extLst>
          </p:cNvPr>
          <p:cNvSpPr>
            <a:spLocks xmlns:a="http://schemas.openxmlformats.org/drawingml/2006/main" noGrp="1"/>
          </p:cNvSpPr>
          <p:nvPr/>
        </p:nvSpPr>
        <p:spPr>
          <a:xfrm xmlns:a="http://schemas.openxmlformats.org/drawingml/2006/main">
            <a:off x="8534400" y="4933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800" b="1">
                <a:solidFill>
                  <a:srgbClr val="B45309"/>
                </a:solidFill>
                <a:latin typeface="Arial"/>
                <a:ea typeface="Arial"/>
                <a:cs typeface="Arial"/>
              </a:defRPr>
            </a:pPr>
            <a:r>
              <a:rPr sz="1800" b="1">
                <a:solidFill>
                  <a:srgbClr val="B45309"/>
                </a:solidFill>
                <a:latin typeface="Arial"/>
                <a:ea typeface="Arial"/>
                <a:cs typeface="Arial"/>
              </a:rPr>
              <a:t>≤ 256 guesses / byte</a:t>
            </a:r>
          </a:p>
        </p:txBody>
      </p:sp>
      <p:sp>
        <p:nvSpPr>
          <p:cNvPr id="49" name="text">
            <a:extLst xmlns:a="http://schemas.openxmlformats.org/drawingml/2006/main">
              <a:ext uri="{FF2B5EF4-FFF2-40B4-BE49-F238E27FC236}">
                <a16:creationId xmlns:a16="http://schemas.microsoft.com/office/drawing/2014/main" id="{38DB0471-D3E8-4BEE-9D4E-B707CEE6C364}"/>
              </a:ext>
            </a:extLst>
          </p:cNvPr>
          <p:cNvSpPr>
            <a:spLocks xmlns:a="http://schemas.openxmlformats.org/drawingml/2006/main" noGrp="1"/>
          </p:cNvSpPr>
          <p:nvPr/>
        </p:nvSpPr>
        <p:spPr>
          <a:xfrm xmlns:a="http://schemas.openxmlformats.org/drawingml/2006/main">
            <a:off x="609600" y="56197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4,713 requests recovered two blocks in the lab.</a:t>
            </a:r>
          </a:p>
        </p:txBody>
      </p:sp>
      <p:sp>
        <p:nvSpPr>
          <p:cNvPr id="50" name="slide-number">
            <a:extLst xmlns:a="http://schemas.openxmlformats.org/drawingml/2006/main">
              <a:ext uri="{FF2B5EF4-FFF2-40B4-BE49-F238E27FC236}">
                <a16:creationId xmlns:a16="http://schemas.microsoft.com/office/drawing/2014/main" id="{C05133A2-8AF9-4047-945F-FE3587F74CCC}"/>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05</a:t>
            </a:r>
          </a:p>
        </p:txBody>
      </p:sp>
    </p:spTree>
    <p:extLst>
      <p:ext uri="{BB962C8B-B14F-4D97-AF65-F5344CB8AC3E}">
        <p14:creationId xmlns:p14="http://schemas.microsoft.com/office/powerpoint/2010/main" val="3329042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D4A7E877-1C56-479A-8CE4-19AF5383C70F}"/>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Forge the first block</a:t>
            </a:r>
          </a:p>
        </p:txBody>
      </p:sp>
      <p:sp>
        <p:nvSpPr>
          <p:cNvPr id="2" name="text">
            <a:extLst xmlns:a="http://schemas.openxmlformats.org/drawingml/2006/main">
              <a:ext uri="{FF2B5EF4-FFF2-40B4-BE49-F238E27FC236}">
                <a16:creationId xmlns:a16="http://schemas.microsoft.com/office/drawing/2014/main" id="{9CCD9E5F-A70A-4CBF-986D-C6ABDF34AFD9}"/>
              </a:ext>
            </a:extLst>
          </p:cNvPr>
          <p:cNvSpPr>
            <a:spLocks xmlns:a="http://schemas.openxmlformats.org/drawingml/2006/main" noGrp="1"/>
          </p:cNvSpPr>
          <p:nvPr/>
        </p:nvSpPr>
        <p:spPr>
          <a:xfrm xmlns:a="http://schemas.openxmlformats.org/drawingml/2006/main">
            <a:off x="609600" y="1295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26071"/>
                </a:solidFill>
                <a:latin typeface="Arial"/>
                <a:ea typeface="Arial"/>
                <a:cs typeface="Arial"/>
              </a:defRPr>
            </a:pPr>
            <a:r>
              <a:rPr sz="900" b="1">
                <a:solidFill>
                  <a:srgbClr val="526071"/>
                </a:solidFill>
                <a:latin typeface="Arial"/>
                <a:ea typeface="Arial"/>
                <a:cs typeface="Arial"/>
              </a:rPr>
              <a:t>ORIGINAL</a:t>
            </a:r>
          </a:p>
        </p:txBody>
      </p:sp>
      <p:sp>
        <p:nvSpPr>
          <p:cNvPr id="3" name="text">
            <a:extLst xmlns:a="http://schemas.openxmlformats.org/drawingml/2006/main">
              <a:ext uri="{FF2B5EF4-FFF2-40B4-BE49-F238E27FC236}">
                <a16:creationId xmlns:a16="http://schemas.microsoft.com/office/drawing/2014/main" id="{D02FD05B-F991-416E-9BD2-AFA92B24B826}"/>
              </a:ext>
            </a:extLst>
          </p:cNvPr>
          <p:cNvSpPr>
            <a:spLocks xmlns:a="http://schemas.openxmlformats.org/drawingml/2006/main" noGrp="1"/>
          </p:cNvSpPr>
          <p:nvPr/>
        </p:nvSpPr>
        <p:spPr>
          <a:xfrm xmlns:a="http://schemas.openxmlformats.org/drawingml/2006/main">
            <a:off x="609600" y="160020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10243E"/>
                </a:solidFill>
                <a:latin typeface="Arial"/>
                <a:ea typeface="Arial"/>
                <a:cs typeface="Arial"/>
              </a:defRPr>
            </a:pPr>
            <a:r>
              <a:rPr sz="2250" b="1">
                <a:solidFill>
                  <a:srgbClr val="10243E"/>
                </a:solidFill>
                <a:latin typeface="Arial"/>
                <a:ea typeface="Arial"/>
                <a:cs typeface="Arial"/>
              </a:rPr>
              <a:t>role=user;uid=10</a:t>
            </a:r>
          </a:p>
        </p:txBody>
      </p:sp>
      <p:sp>
        <p:nvSpPr>
          <p:cNvPr id="4" name="text">
            <a:extLst xmlns:a="http://schemas.openxmlformats.org/drawingml/2006/main">
              <a:ext uri="{FF2B5EF4-FFF2-40B4-BE49-F238E27FC236}">
                <a16:creationId xmlns:a16="http://schemas.microsoft.com/office/drawing/2014/main" id="{B3D8538F-E166-42E5-983F-CD8C076BD8E9}"/>
              </a:ext>
            </a:extLst>
          </p:cNvPr>
          <p:cNvSpPr>
            <a:spLocks xmlns:a="http://schemas.openxmlformats.org/drawingml/2006/main" noGrp="1"/>
          </p:cNvSpPr>
          <p:nvPr/>
        </p:nvSpPr>
        <p:spPr>
          <a:xfrm xmlns:a="http://schemas.openxmlformats.org/drawingml/2006/main">
            <a:off x="609600" y="2381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B45309"/>
                </a:solidFill>
                <a:latin typeface="Arial"/>
                <a:ea typeface="Arial"/>
                <a:cs typeface="Arial"/>
              </a:defRPr>
            </a:pPr>
            <a:r>
              <a:rPr sz="900" b="1">
                <a:solidFill>
                  <a:srgbClr val="B45309"/>
                </a:solidFill>
                <a:latin typeface="Arial"/>
                <a:ea typeface="Arial"/>
                <a:cs typeface="Arial"/>
              </a:rPr>
              <a:t>TARGET</a:t>
            </a:r>
          </a:p>
        </p:txBody>
      </p:sp>
      <p:sp>
        <p:nvSpPr>
          <p:cNvPr id="5" name="text">
            <a:extLst xmlns:a="http://schemas.openxmlformats.org/drawingml/2006/main">
              <a:ext uri="{FF2B5EF4-FFF2-40B4-BE49-F238E27FC236}">
                <a16:creationId xmlns:a16="http://schemas.microsoft.com/office/drawing/2014/main" id="{44BF383E-68D5-4B67-974B-D0242D8C6083}"/>
              </a:ext>
            </a:extLst>
          </p:cNvPr>
          <p:cNvSpPr>
            <a:spLocks xmlns:a="http://schemas.openxmlformats.org/drawingml/2006/main" noGrp="1"/>
          </p:cNvSpPr>
          <p:nvPr/>
        </p:nvSpPr>
        <p:spPr>
          <a:xfrm xmlns:a="http://schemas.openxmlformats.org/drawingml/2006/main">
            <a:off x="609600" y="26860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B45309"/>
                </a:solidFill>
                <a:latin typeface="Arial"/>
                <a:ea typeface="Arial"/>
                <a:cs typeface="Arial"/>
              </a:defRPr>
            </a:pPr>
            <a:r>
              <a:rPr sz="2250" b="1">
                <a:solidFill>
                  <a:srgbClr val="B45309"/>
                </a:solidFill>
                <a:latin typeface="Arial"/>
                <a:ea typeface="Arial"/>
                <a:cs typeface="Arial"/>
              </a:rPr>
              <a:t>role=root;uid=10</a:t>
            </a:r>
          </a:p>
        </p:txBody>
      </p:sp>
      <p:sp>
        <p:nvSpPr>
          <p:cNvPr id="6" name="">
            <a:extLst xmlns:a="http://schemas.openxmlformats.org/drawingml/2006/main">
              <a:ext uri="{FF2B5EF4-FFF2-40B4-BE49-F238E27FC236}">
                <a16:creationId xmlns:a16="http://schemas.microsoft.com/office/drawing/2014/main" id="{C987061C-A163-41F0-9138-060083D86A46}"/>
              </a:ext>
            </a:extLst>
          </p:cNvPr>
          <p:cNvSpPr>
            <a:spLocks xmlns:a="http://schemas.openxmlformats.org/drawingml/2006/main" noGrp="1"/>
          </p:cNvSpPr>
          <p:nvPr/>
        </p:nvSpPr>
        <p:spPr>
          <a:xfrm xmlns:a="http://schemas.openxmlformats.org/drawingml/2006/main">
            <a:off x="609600" y="3505200"/>
            <a:ext cx="6096000" cy="9525"/>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7" name="text">
            <a:extLst xmlns:a="http://schemas.openxmlformats.org/drawingml/2006/main">
              <a:ext uri="{FF2B5EF4-FFF2-40B4-BE49-F238E27FC236}">
                <a16:creationId xmlns:a16="http://schemas.microsoft.com/office/drawing/2014/main" id="{B8B51B6E-BF7E-4D9C-B0DC-1A8D546A5D8E}"/>
              </a:ext>
            </a:extLst>
          </p:cNvPr>
          <p:cNvSpPr>
            <a:spLocks xmlns:a="http://schemas.openxmlformats.org/drawingml/2006/main" noGrp="1"/>
          </p:cNvSpPr>
          <p:nvPr/>
        </p:nvSpPr>
        <p:spPr>
          <a:xfrm xmlns:a="http://schemas.openxmlformats.org/drawingml/2006/main">
            <a:off x="609600" y="3848100"/>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F766E"/>
                </a:solidFill>
                <a:latin typeface="Arial"/>
                <a:ea typeface="Arial"/>
                <a:cs typeface="Arial"/>
              </a:defRPr>
            </a:pPr>
            <a:r>
              <a:rPr sz="2700" b="1">
                <a:solidFill>
                  <a:srgbClr val="0F766E"/>
                </a:solidFill>
                <a:latin typeface="Arial"/>
                <a:ea typeface="Arial"/>
                <a:cs typeface="Arial"/>
              </a:rPr>
              <a:t>IV* = I[0] xor P*[0]</a:t>
            </a:r>
          </a:p>
        </p:txBody>
      </p:sp>
      <p:sp>
        <p:nvSpPr>
          <p:cNvPr id="8" name="text">
            <a:extLst xmlns:a="http://schemas.openxmlformats.org/drawingml/2006/main">
              <a:ext uri="{FF2B5EF4-FFF2-40B4-BE49-F238E27FC236}">
                <a16:creationId xmlns:a16="http://schemas.microsoft.com/office/drawing/2014/main" id="{C6304D45-2D7F-4768-AC9C-798CB7514F30}"/>
              </a:ext>
            </a:extLst>
          </p:cNvPr>
          <p:cNvSpPr>
            <a:spLocks xmlns:a="http://schemas.openxmlformats.org/drawingml/2006/main" noGrp="1"/>
          </p:cNvSpPr>
          <p:nvPr/>
        </p:nvSpPr>
        <p:spPr>
          <a:xfrm xmlns:a="http://schemas.openxmlformats.org/drawingml/2006/main">
            <a:off x="609600" y="453390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526071"/>
                </a:solidFill>
                <a:latin typeface="Arial"/>
                <a:ea typeface="Arial"/>
                <a:cs typeface="Arial"/>
              </a:defRPr>
            </a:pPr>
            <a:r>
              <a:rPr sz="1425" b="0">
                <a:solidFill>
                  <a:srgbClr val="526071"/>
                </a:solidFill>
                <a:latin typeface="Arial"/>
                <a:ea typeface="Arial"/>
                <a:cs typeface="Arial"/>
              </a:rPr>
              <a:t>Keep every ciphertext block unchanged.</a:t>
            </a:r>
          </a:p>
        </p:txBody>
      </p:sp>
      <p:sp>
        <p:nvSpPr>
          <p:cNvPr id="9" name="">
            <a:extLst xmlns:a="http://schemas.openxmlformats.org/drawingml/2006/main">
              <a:ext uri="{FF2B5EF4-FFF2-40B4-BE49-F238E27FC236}">
                <a16:creationId xmlns:a16="http://schemas.microsoft.com/office/drawing/2014/main" id="{EA7525BC-DB11-4582-8743-CFB9AA73E332}"/>
              </a:ext>
            </a:extLst>
          </p:cNvPr>
          <p:cNvSpPr>
            <a:spLocks xmlns:a="http://schemas.openxmlformats.org/drawingml/2006/main" noGrp="1"/>
          </p:cNvSpPr>
          <p:nvPr/>
        </p:nvSpPr>
        <p:spPr>
          <a:xfrm xmlns:a="http://schemas.openxmlformats.org/drawingml/2006/main">
            <a:off x="7562850" y="1428750"/>
            <a:ext cx="4000500" cy="3143250"/>
          </a:xfrm>
          <a:prstGeom xmlns:a="http://schemas.openxmlformats.org/drawingml/2006/main" prst="roundRect">
            <a:avLst>
              <a:gd name="adj" fmla="val 3636"/>
            </a:avLst>
          </a:prstGeom>
          <a:solidFill xmlns:a="http://schemas.openxmlformats.org/drawingml/2006/main">
            <a:srgbClr val="FEF2F2"/>
          </a:solidFill>
          <a:ln xmlns:a="http://schemas.openxmlformats.org/drawingml/2006/main" w="11430">
            <a:solidFill>
              <a:srgbClr val="F0B4B4"/>
            </a:solidFill>
            <a:prstDash val="solid"/>
          </a:ln>
        </p:spPr>
      </p:sp>
      <p:sp>
        <p:nvSpPr>
          <p:cNvPr id="10" name="text">
            <a:extLst xmlns:a="http://schemas.openxmlformats.org/drawingml/2006/main">
              <a:ext uri="{FF2B5EF4-FFF2-40B4-BE49-F238E27FC236}">
                <a16:creationId xmlns:a16="http://schemas.microsoft.com/office/drawing/2014/main" id="{27E809F1-C17E-4D3F-B7EB-E47131C2B98B}"/>
              </a:ext>
            </a:extLst>
          </p:cNvPr>
          <p:cNvSpPr>
            <a:spLocks xmlns:a="http://schemas.openxmlformats.org/drawingml/2006/main" noGrp="1"/>
          </p:cNvSpPr>
          <p:nvPr/>
        </p:nvSpPr>
        <p:spPr>
          <a:xfrm xmlns:a="http://schemas.openxmlformats.org/drawingml/2006/main">
            <a:off x="7867650" y="1714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991B1B"/>
                </a:solidFill>
                <a:latin typeface="Arial"/>
                <a:ea typeface="Arial"/>
                <a:cs typeface="Arial"/>
              </a:defRPr>
            </a:pPr>
            <a:r>
              <a:rPr sz="1650" b="1">
                <a:solidFill>
                  <a:srgbClr val="991B1B"/>
                </a:solidFill>
                <a:latin typeface="Arial"/>
                <a:ea typeface="Arial"/>
                <a:cs typeface="Arial"/>
              </a:rPr>
              <a:t>HTTP 200</a:t>
            </a:r>
          </a:p>
        </p:txBody>
      </p:sp>
      <p:sp>
        <p:nvSpPr>
          <p:cNvPr id="11" name="text">
            <a:extLst xmlns:a="http://schemas.openxmlformats.org/drawingml/2006/main">
              <a:ext uri="{FF2B5EF4-FFF2-40B4-BE49-F238E27FC236}">
                <a16:creationId xmlns:a16="http://schemas.microsoft.com/office/drawing/2014/main" id="{7F93FC52-AF4A-4E97-9939-0DC0A8F81EAC}"/>
              </a:ext>
            </a:extLst>
          </p:cNvPr>
          <p:cNvSpPr>
            <a:spLocks xmlns:a="http://schemas.openxmlformats.org/drawingml/2006/main" noGrp="1"/>
          </p:cNvSpPr>
          <p:nvPr/>
        </p:nvSpPr>
        <p:spPr>
          <a:xfrm xmlns:a="http://schemas.openxmlformats.org/drawingml/2006/main">
            <a:off x="7867650" y="22479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220"/>
                </a:solidFill>
                <a:latin typeface="Arial"/>
                <a:ea typeface="Arial"/>
                <a:cs typeface="Arial"/>
              </a:defRPr>
            </a:pPr>
            <a:r>
              <a:rPr sz="2550" b="1">
                <a:solidFill>
                  <a:srgbClr val="0B1220"/>
                </a:solidFill>
                <a:latin typeface="Arial"/>
                <a:ea typeface="Arial"/>
                <a:cs typeface="Arial"/>
              </a:rPr>
              <a:t>role=root</a:t>
            </a:r>
          </a:p>
        </p:txBody>
      </p:sp>
      <p:sp>
        <p:nvSpPr>
          <p:cNvPr id="12" name="text">
            <a:extLst xmlns:a="http://schemas.openxmlformats.org/drawingml/2006/main">
              <a:ext uri="{FF2B5EF4-FFF2-40B4-BE49-F238E27FC236}">
                <a16:creationId xmlns:a16="http://schemas.microsoft.com/office/drawing/2014/main" id="{35A70FEB-BBC8-4F86-B8F9-F5F0B6570A88}"/>
              </a:ext>
            </a:extLst>
          </p:cNvPr>
          <p:cNvSpPr>
            <a:spLocks xmlns:a="http://schemas.openxmlformats.org/drawingml/2006/main" noGrp="1"/>
          </p:cNvSpPr>
          <p:nvPr/>
        </p:nvSpPr>
        <p:spPr>
          <a:xfrm xmlns:a="http://schemas.openxmlformats.org/drawingml/2006/main">
            <a:off x="7867650" y="2876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0243E"/>
                </a:solidFill>
                <a:latin typeface="Arial"/>
                <a:ea typeface="Arial"/>
                <a:cs typeface="Arial"/>
              </a:defRPr>
            </a:pPr>
            <a:r>
              <a:rPr sz="2100" b="1">
                <a:solidFill>
                  <a:srgbClr val="10243E"/>
                </a:solidFill>
                <a:latin typeface="Arial"/>
                <a:ea typeface="Arial"/>
                <a:cs typeface="Arial"/>
              </a:rPr>
              <a:t>admin console</a:t>
            </a:r>
          </a:p>
        </p:txBody>
      </p:sp>
      <p:sp>
        <p:nvSpPr>
          <p:cNvPr id="13" name="text">
            <a:extLst xmlns:a="http://schemas.openxmlformats.org/drawingml/2006/main">
              <a:ext uri="{FF2B5EF4-FFF2-40B4-BE49-F238E27FC236}">
                <a16:creationId xmlns:a16="http://schemas.microsoft.com/office/drawing/2014/main" id="{7C41C83E-2A56-440D-A8E8-4BAD76BF6340}"/>
              </a:ext>
            </a:extLst>
          </p:cNvPr>
          <p:cNvSpPr>
            <a:spLocks xmlns:a="http://schemas.openxmlformats.org/drawingml/2006/main" noGrp="1"/>
          </p:cNvSpPr>
          <p:nvPr/>
        </p:nvSpPr>
        <p:spPr>
          <a:xfrm xmlns:a="http://schemas.openxmlformats.org/drawingml/2006/main">
            <a:off x="7867650" y="36385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526071"/>
                </a:solidFill>
                <a:latin typeface="Arial"/>
                <a:ea typeface="Arial"/>
                <a:cs typeface="Arial"/>
              </a:defRPr>
            </a:pPr>
            <a:r>
              <a:rPr sz="1275" b="0">
                <a:solidFill>
                  <a:srgbClr val="526071"/>
                </a:solidFill>
                <a:latin typeface="Arial"/>
                <a:ea typeface="Arial"/>
                <a:cs typeface="Arial"/>
              </a:rPr>
              <a:t>The application authorizes the altered state.</a:t>
            </a:r>
          </a:p>
        </p:txBody>
      </p:sp>
      <p:sp>
        <p:nvSpPr>
          <p:cNvPr id="14" name="text">
            <a:extLst xmlns:a="http://schemas.openxmlformats.org/drawingml/2006/main">
              <a:ext uri="{FF2B5EF4-FFF2-40B4-BE49-F238E27FC236}">
                <a16:creationId xmlns:a16="http://schemas.microsoft.com/office/drawing/2014/main" id="{15F2DA96-BA08-4F1D-996E-F4AAA27B076D}"/>
              </a:ext>
            </a:extLst>
          </p:cNvPr>
          <p:cNvSpPr>
            <a:spLocks xmlns:a="http://schemas.openxmlformats.org/drawingml/2006/main" noGrp="1"/>
          </p:cNvSpPr>
          <p:nvPr/>
        </p:nvSpPr>
        <p:spPr>
          <a:xfrm xmlns:a="http://schemas.openxmlformats.org/drawingml/2006/main">
            <a:off x="609600" y="5467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Changing an inner block also corrupts its predecessor - a real attack constraint.</a:t>
            </a:r>
          </a:p>
        </p:txBody>
      </p:sp>
      <p:sp>
        <p:nvSpPr>
          <p:cNvPr id="15" name="slide-number">
            <a:extLst xmlns:a="http://schemas.openxmlformats.org/drawingml/2006/main">
              <a:ext uri="{FF2B5EF4-FFF2-40B4-BE49-F238E27FC236}">
                <a16:creationId xmlns:a16="http://schemas.microsoft.com/office/drawing/2014/main" id="{E970B322-35A0-4600-A3B6-DF307B84FD54}"/>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06</a:t>
            </a:r>
          </a:p>
        </p:txBody>
      </p:sp>
    </p:spTree>
    <p:extLst>
      <p:ext uri="{BB962C8B-B14F-4D97-AF65-F5344CB8AC3E}">
        <p14:creationId xmlns:p14="http://schemas.microsoft.com/office/powerpoint/2010/main" val="473607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5809E86-00BB-4C31-8B4D-0C9FECA4F3E0}"/>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43E"/>
                </a:solidFill>
                <a:latin typeface="Arial"/>
                <a:ea typeface="Arial"/>
                <a:cs typeface="Arial"/>
              </a:defRPr>
            </a:pPr>
            <a:r>
              <a:rPr sz="2550" b="1">
                <a:solidFill>
                  <a:srgbClr val="10243E"/>
                </a:solidFill>
                <a:latin typeface="Arial"/>
                <a:ea typeface="Arial"/>
                <a:cs typeface="Arial"/>
              </a:rPr>
              <a:t>Attack graph</a:t>
            </a:r>
          </a:p>
        </p:txBody>
      </p:sp>
      <p:sp>
        <p:nvSpPr>
          <p:cNvPr id="2" name="text">
            <a:extLst xmlns:a="http://schemas.openxmlformats.org/drawingml/2006/main">
              <a:ext uri="{FF2B5EF4-FFF2-40B4-BE49-F238E27FC236}">
                <a16:creationId xmlns:a16="http://schemas.microsoft.com/office/drawing/2014/main" id="{A606D73D-2104-4E03-8A8B-B6EDAAC8F25F}"/>
              </a:ext>
            </a:extLst>
          </p:cNvPr>
          <p:cNvSpPr>
            <a:spLocks xmlns:a="http://schemas.openxmlformats.org/drawingml/2006/main" noGrp="1"/>
          </p:cNvSpPr>
          <p:nvPr/>
        </p:nvSpPr>
        <p:spPr>
          <a:xfrm xmlns:a="http://schemas.openxmlformats.org/drawingml/2006/main">
            <a:off x="8572500" y="4762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526071"/>
                </a:solidFill>
                <a:latin typeface="Arial"/>
                <a:ea typeface="Arial"/>
                <a:cs typeface="Arial"/>
              </a:defRPr>
            </a:pPr>
            <a:r>
              <a:rPr sz="975" b="1">
                <a:solidFill>
                  <a:srgbClr val="526071"/>
                </a:solidFill>
                <a:latin typeface="Arial"/>
                <a:ea typeface="Arial"/>
                <a:cs typeface="Arial"/>
              </a:rPr>
              <a:t>S0  →  K1 / K2 / K3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20d452f07144a41"/>
          <a:stretch xmlns:a="http://schemas.openxmlformats.org/drawingml/2006/main"/>
        </p:blipFill>
        <p:spPr>
          <a:xfrm xmlns:a="http://schemas.openxmlformats.org/drawingml/2006/main">
            <a:off x="1143554" y="971550"/>
            <a:ext cx="9904892" cy="5657850"/>
          </a:xfrm>
          <a:prstGeom xmlns:a="http://schemas.openxmlformats.org/drawingml/2006/main" prst="rect">
            <a:avLst/>
          </a:prstGeom>
        </p:spPr>
      </p:pic>
      <p:sp>
        <p:nvSpPr>
          <p:cNvPr id="4" name="slide-number">
            <a:extLst xmlns:a="http://schemas.openxmlformats.org/drawingml/2006/main">
              <a:ext uri="{FF2B5EF4-FFF2-40B4-BE49-F238E27FC236}">
                <a16:creationId xmlns:a16="http://schemas.microsoft.com/office/drawing/2014/main" id="{CFCF50DE-AA2B-4838-AE34-565BF6DBC652}"/>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07</a:t>
            </a:r>
          </a:p>
        </p:txBody>
      </p:sp>
    </p:spTree>
    <p:extLst>
      <p:ext uri="{BB962C8B-B14F-4D97-AF65-F5344CB8AC3E}">
        <p14:creationId xmlns:p14="http://schemas.microsoft.com/office/powerpoint/2010/main" val="345036811"/>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C3A420EC-4469-4FCD-BB50-DFBD997B6A2E}"/>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Observed result</a:t>
            </a:r>
          </a:p>
        </p:txBody>
      </p:sp>
      <p:sp>
        <p:nvSpPr>
          <p:cNvPr id="2" name="text">
            <a:extLst xmlns:a="http://schemas.openxmlformats.org/drawingml/2006/main">
              <a:ext uri="{FF2B5EF4-FFF2-40B4-BE49-F238E27FC236}">
                <a16:creationId xmlns:a16="http://schemas.microsoft.com/office/drawing/2014/main" id="{608ED0AD-01CC-4CC3-95E7-8A137AEF50E3}"/>
              </a:ext>
            </a:extLst>
          </p:cNvPr>
          <p:cNvSpPr>
            <a:spLocks xmlns:a="http://schemas.openxmlformats.org/drawingml/2006/main" noGrp="1"/>
          </p:cNvSpPr>
          <p:nvPr/>
        </p:nvSpPr>
        <p:spPr>
          <a:xfrm xmlns:a="http://schemas.openxmlformats.org/drawingml/2006/main">
            <a:off x="609600" y="11049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AFC4D5"/>
                </a:solidFill>
                <a:latin typeface="Arial"/>
                <a:ea typeface="Arial"/>
                <a:cs typeface="Arial"/>
              </a:defRPr>
            </a:pPr>
            <a:r>
              <a:rPr sz="1275" b="0">
                <a:solidFill>
                  <a:srgbClr val="AFC4D5"/>
                </a:solidFill>
                <a:latin typeface="Arial"/>
                <a:ea typeface="Arial"/>
                <a:cs typeface="Arial"/>
              </a:rPr>
              <a:t>Synthetic localhost session  /  no real user data</a:t>
            </a:r>
          </a:p>
        </p:txBody>
      </p:sp>
      <p:sp>
        <p:nvSpPr>
          <p:cNvPr id="3" name="text">
            <a:extLst xmlns:a="http://schemas.openxmlformats.org/drawingml/2006/main">
              <a:ext uri="{FF2B5EF4-FFF2-40B4-BE49-F238E27FC236}">
                <a16:creationId xmlns:a16="http://schemas.microsoft.com/office/drawing/2014/main" id="{9DC3C483-307F-4B5B-9F3C-390A805FD4F6}"/>
              </a:ext>
            </a:extLst>
          </p:cNvPr>
          <p:cNvSpPr>
            <a:spLocks xmlns:a="http://schemas.openxmlformats.org/drawingml/2006/main" noGrp="1"/>
          </p:cNvSpPr>
          <p:nvPr/>
        </p:nvSpPr>
        <p:spPr>
          <a:xfrm xmlns:a="http://schemas.openxmlformats.org/drawingml/2006/main">
            <a:off x="609600" y="1809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RECOVERED</a:t>
            </a:r>
          </a:p>
        </p:txBody>
      </p:sp>
      <p:sp>
        <p:nvSpPr>
          <p:cNvPr id="4" name="text">
            <a:extLst xmlns:a="http://schemas.openxmlformats.org/drawingml/2006/main">
              <a:ext uri="{FF2B5EF4-FFF2-40B4-BE49-F238E27FC236}">
                <a16:creationId xmlns:a16="http://schemas.microsoft.com/office/drawing/2014/main" id="{4CAD1AB4-A8BF-4619-8EC9-545828FFD0A3}"/>
              </a:ext>
            </a:extLst>
          </p:cNvPr>
          <p:cNvSpPr>
            <a:spLocks xmlns:a="http://schemas.openxmlformats.org/drawingml/2006/main" noGrp="1"/>
          </p:cNvSpPr>
          <p:nvPr/>
        </p:nvSpPr>
        <p:spPr>
          <a:xfrm xmlns:a="http://schemas.openxmlformats.org/drawingml/2006/main">
            <a:off x="2743200" y="173355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Arial"/>
                <a:ea typeface="Arial"/>
                <a:cs typeface="Arial"/>
              </a:defRPr>
            </a:pPr>
            <a:r>
              <a:rPr sz="1800" b="1">
                <a:solidFill>
                  <a:srgbClr val="FFFFFF"/>
                </a:solidFill>
                <a:latin typeface="Arial"/>
                <a:ea typeface="Arial"/>
                <a:cs typeface="Arial"/>
              </a:rPr>
              <a:t>role=user;uid=1001;ok=1</a:t>
            </a:r>
          </a:p>
        </p:txBody>
      </p:sp>
      <p:sp>
        <p:nvSpPr>
          <p:cNvPr id="5" name="">
            <a:extLst xmlns:a="http://schemas.openxmlformats.org/drawingml/2006/main">
              <a:ext uri="{FF2B5EF4-FFF2-40B4-BE49-F238E27FC236}">
                <a16:creationId xmlns:a16="http://schemas.microsoft.com/office/drawing/2014/main" id="{264FB251-46EB-4004-9D79-AD30CA3ABAFA}"/>
              </a:ext>
            </a:extLst>
          </p:cNvPr>
          <p:cNvSpPr>
            <a:spLocks xmlns:a="http://schemas.openxmlformats.org/drawingml/2006/main" noGrp="1"/>
          </p:cNvSpPr>
          <p:nvPr/>
        </p:nvSpPr>
        <p:spPr>
          <a:xfrm xmlns:a="http://schemas.openxmlformats.org/drawingml/2006/main">
            <a:off x="609600" y="2438400"/>
            <a:ext cx="7810500" cy="9525"/>
          </a:xfrm>
          <a:prstGeom xmlns:a="http://schemas.openxmlformats.org/drawingml/2006/main" prst="rect">
            <a:avLst/>
          </a:prstGeom>
          <a:solidFill xmlns:a="http://schemas.openxmlformats.org/drawingml/2006/main">
            <a:srgbClr val="294967"/>
          </a:solidFill>
          <a:ln xmlns:a="http://schemas.openxmlformats.org/drawingml/2006/main" w="0">
            <a:solidFill>
              <a:srgbClr val="294967"/>
            </a:solidFill>
            <a:prstDash val="solid"/>
          </a:ln>
        </p:spPr>
      </p:sp>
      <p:sp>
        <p:nvSpPr>
          <p:cNvPr id="6" name="text">
            <a:extLst xmlns:a="http://schemas.openxmlformats.org/drawingml/2006/main">
              <a:ext uri="{FF2B5EF4-FFF2-40B4-BE49-F238E27FC236}">
                <a16:creationId xmlns:a16="http://schemas.microsoft.com/office/drawing/2014/main" id="{C1C107D0-521B-4AC4-89BC-B7DE2B435CC5}"/>
              </a:ext>
            </a:extLst>
          </p:cNvPr>
          <p:cNvSpPr>
            <a:spLocks xmlns:a="http://schemas.openxmlformats.org/drawingml/2006/main" noGrp="1"/>
          </p:cNvSpPr>
          <p:nvPr/>
        </p:nvSpPr>
        <p:spPr>
          <a:xfrm xmlns:a="http://schemas.openxmlformats.org/drawingml/2006/main">
            <a:off x="609600" y="2895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FORGED BLOCK</a:t>
            </a:r>
          </a:p>
        </p:txBody>
      </p:sp>
      <p:sp>
        <p:nvSpPr>
          <p:cNvPr id="7" name="text">
            <a:extLst xmlns:a="http://schemas.openxmlformats.org/drawingml/2006/main">
              <a:ext uri="{FF2B5EF4-FFF2-40B4-BE49-F238E27FC236}">
                <a16:creationId xmlns:a16="http://schemas.microsoft.com/office/drawing/2014/main" id="{E8181A55-893D-4C4D-A5C6-8E61DF7B19A2}"/>
              </a:ext>
            </a:extLst>
          </p:cNvPr>
          <p:cNvSpPr>
            <a:spLocks xmlns:a="http://schemas.openxmlformats.org/drawingml/2006/main" noGrp="1"/>
          </p:cNvSpPr>
          <p:nvPr/>
        </p:nvSpPr>
        <p:spPr>
          <a:xfrm xmlns:a="http://schemas.openxmlformats.org/drawingml/2006/main">
            <a:off x="2743200" y="28194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DBA74"/>
                </a:solidFill>
                <a:latin typeface="Arial"/>
                <a:ea typeface="Arial"/>
                <a:cs typeface="Arial"/>
              </a:defRPr>
            </a:pPr>
            <a:r>
              <a:rPr sz="1800" b="1">
                <a:solidFill>
                  <a:srgbClr val="FDBA74"/>
                </a:solidFill>
                <a:latin typeface="Arial"/>
                <a:ea typeface="Arial"/>
                <a:cs typeface="Arial"/>
              </a:rPr>
              <a:t>role=root;uid=10</a:t>
            </a:r>
          </a:p>
        </p:txBody>
      </p:sp>
      <p:sp>
        <p:nvSpPr>
          <p:cNvPr id="8" name="">
            <a:extLst xmlns:a="http://schemas.openxmlformats.org/drawingml/2006/main">
              <a:ext uri="{FF2B5EF4-FFF2-40B4-BE49-F238E27FC236}">
                <a16:creationId xmlns:a16="http://schemas.microsoft.com/office/drawing/2014/main" id="{FEB52B58-4FDA-4EC5-B79D-C5461136EFEF}"/>
              </a:ext>
            </a:extLst>
          </p:cNvPr>
          <p:cNvSpPr>
            <a:spLocks xmlns:a="http://schemas.openxmlformats.org/drawingml/2006/main" noGrp="1"/>
          </p:cNvSpPr>
          <p:nvPr/>
        </p:nvSpPr>
        <p:spPr>
          <a:xfrm xmlns:a="http://schemas.openxmlformats.org/drawingml/2006/main">
            <a:off x="609600" y="3524250"/>
            <a:ext cx="7810500" cy="9525"/>
          </a:xfrm>
          <a:prstGeom xmlns:a="http://schemas.openxmlformats.org/drawingml/2006/main" prst="rect">
            <a:avLst/>
          </a:prstGeom>
          <a:solidFill xmlns:a="http://schemas.openxmlformats.org/drawingml/2006/main">
            <a:srgbClr val="294967"/>
          </a:solidFill>
          <a:ln xmlns:a="http://schemas.openxmlformats.org/drawingml/2006/main" w="0">
            <a:solidFill>
              <a:srgbClr val="294967"/>
            </a:solidFill>
            <a:prstDash val="solid"/>
          </a:ln>
        </p:spPr>
      </p:sp>
      <p:sp>
        <p:nvSpPr>
          <p:cNvPr id="9" name="text">
            <a:extLst xmlns:a="http://schemas.openxmlformats.org/drawingml/2006/main">
              <a:ext uri="{FF2B5EF4-FFF2-40B4-BE49-F238E27FC236}">
                <a16:creationId xmlns:a16="http://schemas.microsoft.com/office/drawing/2014/main" id="{59310F39-F8E0-4E5B-ADF0-2D1C29A4C53B}"/>
              </a:ext>
            </a:extLst>
          </p:cNvPr>
          <p:cNvSpPr>
            <a:spLocks xmlns:a="http://schemas.openxmlformats.org/drawingml/2006/main" noGrp="1"/>
          </p:cNvSpPr>
          <p:nvPr/>
        </p:nvSpPr>
        <p:spPr>
          <a:xfrm xmlns:a="http://schemas.openxmlformats.org/drawingml/2006/main">
            <a:off x="609600" y="3981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DD3FC"/>
                </a:solidFill>
                <a:latin typeface="Arial"/>
                <a:ea typeface="Arial"/>
                <a:cs typeface="Arial"/>
              </a:defRPr>
            </a:pPr>
            <a:r>
              <a:rPr sz="900" b="1">
                <a:solidFill>
                  <a:srgbClr val="7DD3FC"/>
                </a:solidFill>
                <a:latin typeface="Arial"/>
                <a:ea typeface="Arial"/>
                <a:cs typeface="Arial"/>
              </a:rPr>
              <a:t>RESPONSE</a:t>
            </a:r>
          </a:p>
        </p:txBody>
      </p:sp>
      <p:sp>
        <p:nvSpPr>
          <p:cNvPr id="10" name="text">
            <a:extLst xmlns:a="http://schemas.openxmlformats.org/drawingml/2006/main">
              <a:ext uri="{FF2B5EF4-FFF2-40B4-BE49-F238E27FC236}">
                <a16:creationId xmlns:a16="http://schemas.microsoft.com/office/drawing/2014/main" id="{4691216F-B027-475F-B34E-614B5F741D2D}"/>
              </a:ext>
            </a:extLst>
          </p:cNvPr>
          <p:cNvSpPr>
            <a:spLocks xmlns:a="http://schemas.openxmlformats.org/drawingml/2006/main" noGrp="1"/>
          </p:cNvSpPr>
          <p:nvPr/>
        </p:nvSpPr>
        <p:spPr>
          <a:xfrm xmlns:a="http://schemas.openxmlformats.org/drawingml/2006/main">
            <a:off x="2743200" y="390525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86EFAC"/>
                </a:solidFill>
                <a:latin typeface="Arial"/>
                <a:ea typeface="Arial"/>
                <a:cs typeface="Arial"/>
              </a:defRPr>
            </a:pPr>
            <a:r>
              <a:rPr sz="1800" b="1">
                <a:solidFill>
                  <a:srgbClr val="86EFAC"/>
                </a:solidFill>
                <a:latin typeface="Arial"/>
                <a:ea typeface="Arial"/>
                <a:cs typeface="Arial"/>
              </a:rPr>
              <a:t>HTTP 200  ·  role=root  ·  admin console</a:t>
            </a:r>
          </a:p>
        </p:txBody>
      </p:sp>
      <p:sp>
        <p:nvSpPr>
          <p:cNvPr id="11" name="">
            <a:extLst xmlns:a="http://schemas.openxmlformats.org/drawingml/2006/main">
              <a:ext uri="{FF2B5EF4-FFF2-40B4-BE49-F238E27FC236}">
                <a16:creationId xmlns:a16="http://schemas.microsoft.com/office/drawing/2014/main" id="{F8E497D6-8395-4EB4-8373-67FF1F64C41F}"/>
              </a:ext>
            </a:extLst>
          </p:cNvPr>
          <p:cNvSpPr>
            <a:spLocks xmlns:a="http://schemas.openxmlformats.org/drawingml/2006/main" noGrp="1"/>
          </p:cNvSpPr>
          <p:nvPr/>
        </p:nvSpPr>
        <p:spPr>
          <a:xfrm xmlns:a="http://schemas.openxmlformats.org/drawingml/2006/main">
            <a:off x="609600" y="4610100"/>
            <a:ext cx="7810500" cy="9525"/>
          </a:xfrm>
          <a:prstGeom xmlns:a="http://schemas.openxmlformats.org/drawingml/2006/main" prst="rect">
            <a:avLst/>
          </a:prstGeom>
          <a:solidFill xmlns:a="http://schemas.openxmlformats.org/drawingml/2006/main">
            <a:srgbClr val="294967"/>
          </a:solidFill>
          <a:ln xmlns:a="http://schemas.openxmlformats.org/drawingml/2006/main" w="0">
            <a:solidFill>
              <a:srgbClr val="294967"/>
            </a:solidFill>
            <a:prstDash val="solid"/>
          </a:ln>
        </p:spPr>
      </p:sp>
      <p:sp>
        <p:nvSpPr>
          <p:cNvPr id="12" name="text">
            <a:extLst xmlns:a="http://schemas.openxmlformats.org/drawingml/2006/main">
              <a:ext uri="{FF2B5EF4-FFF2-40B4-BE49-F238E27FC236}">
                <a16:creationId xmlns:a16="http://schemas.microsoft.com/office/drawing/2014/main" id="{ABF62E37-FDCF-405D-8486-7E7D133B6244}"/>
              </a:ext>
            </a:extLst>
          </p:cNvPr>
          <p:cNvSpPr>
            <a:spLocks xmlns:a="http://schemas.openxmlformats.org/drawingml/2006/main" noGrp="1"/>
          </p:cNvSpPr>
          <p:nvPr/>
        </p:nvSpPr>
        <p:spPr>
          <a:xfrm xmlns:a="http://schemas.openxmlformats.org/drawingml/2006/main">
            <a:off x="9144000" y="18097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2</a:t>
            </a:r>
          </a:p>
        </p:txBody>
      </p:sp>
      <p:sp>
        <p:nvSpPr>
          <p:cNvPr id="13" name="text">
            <a:extLst xmlns:a="http://schemas.openxmlformats.org/drawingml/2006/main">
              <a:ext uri="{FF2B5EF4-FFF2-40B4-BE49-F238E27FC236}">
                <a16:creationId xmlns:a16="http://schemas.microsoft.com/office/drawing/2014/main" id="{A87826C2-D46A-4318-8DDA-FD965006219C}"/>
              </a:ext>
            </a:extLst>
          </p:cNvPr>
          <p:cNvSpPr>
            <a:spLocks xmlns:a="http://schemas.openxmlformats.org/drawingml/2006/main" noGrp="1"/>
          </p:cNvSpPr>
          <p:nvPr/>
        </p:nvSpPr>
        <p:spPr>
          <a:xfrm xmlns:a="http://schemas.openxmlformats.org/drawingml/2006/main">
            <a:off x="9144000" y="2343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8BA6BD"/>
                </a:solidFill>
                <a:latin typeface="Arial"/>
                <a:ea typeface="Arial"/>
                <a:cs typeface="Arial"/>
              </a:defRPr>
            </a:pPr>
            <a:r>
              <a:rPr sz="975" b="1">
                <a:solidFill>
                  <a:srgbClr val="8BA6BD"/>
                </a:solidFill>
                <a:latin typeface="Arial"/>
                <a:ea typeface="Arial"/>
                <a:cs typeface="Arial"/>
              </a:rPr>
              <a:t>CBC blocks recovered</a:t>
            </a:r>
          </a:p>
        </p:txBody>
      </p:sp>
      <p:sp>
        <p:nvSpPr>
          <p:cNvPr id="14" name="text">
            <a:extLst xmlns:a="http://schemas.openxmlformats.org/drawingml/2006/main">
              <a:ext uri="{FF2B5EF4-FFF2-40B4-BE49-F238E27FC236}">
                <a16:creationId xmlns:a16="http://schemas.microsoft.com/office/drawing/2014/main" id="{E62E2918-3563-428E-AC86-13BF4DC2A2E2}"/>
              </a:ext>
            </a:extLst>
          </p:cNvPr>
          <p:cNvSpPr>
            <a:spLocks xmlns:a="http://schemas.openxmlformats.org/drawingml/2006/main" noGrp="1"/>
          </p:cNvSpPr>
          <p:nvPr/>
        </p:nvSpPr>
        <p:spPr>
          <a:xfrm xmlns:a="http://schemas.openxmlformats.org/drawingml/2006/main">
            <a:off x="9144000" y="30670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3150" b="1">
                <a:solidFill>
                  <a:srgbClr val="FFFFFF"/>
                </a:solidFill>
                <a:latin typeface="Arial"/>
                <a:ea typeface="Arial"/>
                <a:cs typeface="Arial"/>
              </a:defRPr>
            </a:pPr>
            <a:r>
              <a:rPr sz="3150" b="1">
                <a:solidFill>
                  <a:srgbClr val="FFFFFF"/>
                </a:solidFill>
                <a:latin typeface="Arial"/>
                <a:ea typeface="Arial"/>
                <a:cs typeface="Arial"/>
              </a:rPr>
              <a:t>4,713</a:t>
            </a:r>
          </a:p>
        </p:txBody>
      </p:sp>
      <p:sp>
        <p:nvSpPr>
          <p:cNvPr id="15" name="text">
            <a:extLst xmlns:a="http://schemas.openxmlformats.org/drawingml/2006/main">
              <a:ext uri="{FF2B5EF4-FFF2-40B4-BE49-F238E27FC236}">
                <a16:creationId xmlns:a16="http://schemas.microsoft.com/office/drawing/2014/main" id="{9876B698-2882-4D51-8BB5-8326B3097DC8}"/>
              </a:ext>
            </a:extLst>
          </p:cNvPr>
          <p:cNvSpPr>
            <a:spLocks xmlns:a="http://schemas.openxmlformats.org/drawingml/2006/main" noGrp="1"/>
          </p:cNvSpPr>
          <p:nvPr/>
        </p:nvSpPr>
        <p:spPr>
          <a:xfrm xmlns:a="http://schemas.openxmlformats.org/drawingml/2006/main">
            <a:off x="9144000" y="36004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8BA6BD"/>
                </a:solidFill>
                <a:latin typeface="Arial"/>
                <a:ea typeface="Arial"/>
                <a:cs typeface="Arial"/>
              </a:defRPr>
            </a:pPr>
            <a:r>
              <a:rPr sz="975" b="1">
                <a:solidFill>
                  <a:srgbClr val="8BA6BD"/>
                </a:solidFill>
                <a:latin typeface="Arial"/>
                <a:ea typeface="Arial"/>
                <a:cs typeface="Arial"/>
              </a:rPr>
              <a:t>oracle queries</a:t>
            </a:r>
          </a:p>
        </p:txBody>
      </p:sp>
      <p:sp>
        <p:nvSpPr>
          <p:cNvPr id="16" name="text">
            <a:extLst xmlns:a="http://schemas.openxmlformats.org/drawingml/2006/main">
              <a:ext uri="{FF2B5EF4-FFF2-40B4-BE49-F238E27FC236}">
                <a16:creationId xmlns:a16="http://schemas.microsoft.com/office/drawing/2014/main" id="{520F7ACA-9997-43E0-8BC7-4C3D0873BA6B}"/>
              </a:ext>
            </a:extLst>
          </p:cNvPr>
          <p:cNvSpPr>
            <a:spLocks xmlns:a="http://schemas.openxmlformats.org/drawingml/2006/main" noGrp="1"/>
          </p:cNvSpPr>
          <p:nvPr/>
        </p:nvSpPr>
        <p:spPr>
          <a:xfrm xmlns:a="http://schemas.openxmlformats.org/drawingml/2006/main">
            <a:off x="9144000" y="43243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3150" b="1">
                <a:solidFill>
                  <a:srgbClr val="86EFAC"/>
                </a:solidFill>
                <a:latin typeface="Arial"/>
                <a:ea typeface="Arial"/>
                <a:cs typeface="Arial"/>
              </a:defRPr>
            </a:pPr>
            <a:r>
              <a:rPr sz="3150" b="1">
                <a:solidFill>
                  <a:srgbClr val="86EFAC"/>
                </a:solidFill>
                <a:latin typeface="Arial"/>
                <a:ea typeface="Arial"/>
                <a:cs typeface="Arial"/>
              </a:rPr>
              <a:t>0</a:t>
            </a:r>
          </a:p>
        </p:txBody>
      </p:sp>
      <p:sp>
        <p:nvSpPr>
          <p:cNvPr id="17" name="text">
            <a:extLst xmlns:a="http://schemas.openxmlformats.org/drawingml/2006/main">
              <a:ext uri="{FF2B5EF4-FFF2-40B4-BE49-F238E27FC236}">
                <a16:creationId xmlns:a16="http://schemas.microsoft.com/office/drawing/2014/main" id="{E5A67132-7E5D-4487-9E6E-B12478C8F7A9}"/>
              </a:ext>
            </a:extLst>
          </p:cNvPr>
          <p:cNvSpPr>
            <a:spLocks xmlns:a="http://schemas.openxmlformats.org/drawingml/2006/main" noGrp="1"/>
          </p:cNvSpPr>
          <p:nvPr/>
        </p:nvSpPr>
        <p:spPr>
          <a:xfrm xmlns:a="http://schemas.openxmlformats.org/drawingml/2006/main">
            <a:off x="9144000" y="4857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8BA6BD"/>
                </a:solidFill>
                <a:latin typeface="Arial"/>
                <a:ea typeface="Arial"/>
                <a:cs typeface="Arial"/>
              </a:defRPr>
            </a:pPr>
            <a:r>
              <a:rPr sz="975" b="1">
                <a:solidFill>
                  <a:srgbClr val="8BA6BD"/>
                </a:solidFill>
                <a:latin typeface="Arial"/>
                <a:ea typeface="Arial"/>
                <a:cs typeface="Arial"/>
              </a:rPr>
              <a:t>key bytes</a:t>
            </a:r>
          </a:p>
        </p:txBody>
      </p:sp>
      <p:sp>
        <p:nvSpPr>
          <p:cNvPr id="18" name="text">
            <a:extLst xmlns:a="http://schemas.openxmlformats.org/drawingml/2006/main">
              <a:ext uri="{FF2B5EF4-FFF2-40B4-BE49-F238E27FC236}">
                <a16:creationId xmlns:a16="http://schemas.microsoft.com/office/drawing/2014/main" id="{8F696BD5-E7A8-4EDA-97C6-2E3C379329C0}"/>
              </a:ext>
            </a:extLst>
          </p:cNvPr>
          <p:cNvSpPr>
            <a:spLocks xmlns:a="http://schemas.openxmlformats.org/drawingml/2006/main" noGrp="1"/>
          </p:cNvSpPr>
          <p:nvPr/>
        </p:nvSpPr>
        <p:spPr>
          <a:xfrm xmlns:a="http://schemas.openxmlformats.org/drawingml/2006/main">
            <a:off x="609600" y="577215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9E7F3"/>
                </a:solidFill>
                <a:latin typeface="Arial"/>
                <a:ea typeface="Arial"/>
                <a:cs typeface="Arial"/>
              </a:defRPr>
            </a:pPr>
            <a:r>
              <a:rPr sz="1350" b="0">
                <a:solidFill>
                  <a:srgbClr val="D9E7F3"/>
                </a:solidFill>
                <a:latin typeface="Arial"/>
                <a:ea typeface="Arial"/>
                <a:cs typeface="Arial"/>
              </a:rPr>
              <a:t>The forgery changes state without decrypting or re-encrypting the remaining blocks.</a:t>
            </a:r>
          </a:p>
        </p:txBody>
      </p:sp>
      <p:sp>
        <p:nvSpPr>
          <p:cNvPr id="19" name="slide-number">
            <a:extLst xmlns:a="http://schemas.openxmlformats.org/drawingml/2006/main">
              <a:ext uri="{FF2B5EF4-FFF2-40B4-BE49-F238E27FC236}">
                <a16:creationId xmlns:a16="http://schemas.microsoft.com/office/drawing/2014/main" id="{107D5A2E-70C4-432F-8292-2E5C4F19BDA6}"/>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8BA6BD"/>
                </a:solidFill>
                <a:latin typeface="Arial"/>
                <a:ea typeface="Arial"/>
                <a:cs typeface="Arial"/>
              </a:defRPr>
            </a:pPr>
            <a:r>
              <a:rPr sz="825" b="0">
                <a:solidFill>
                  <a:srgbClr val="8BA6BD"/>
                </a:solidFill>
                <a:latin typeface="Arial"/>
                <a:ea typeface="Arial"/>
                <a:cs typeface="Arial"/>
              </a:rPr>
              <a:t>08</a:t>
            </a:r>
          </a:p>
        </p:txBody>
      </p:sp>
    </p:spTree>
    <p:extLst>
      <p:ext uri="{BB962C8B-B14F-4D97-AF65-F5344CB8AC3E}">
        <p14:creationId xmlns:p14="http://schemas.microsoft.com/office/powerpoint/2010/main" val="95015817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5AFC9E9D-E9C6-482D-B6F1-89C7BEBD37A5}"/>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Root cause</a:t>
            </a:r>
          </a:p>
        </p:txBody>
      </p:sp>
      <p:sp>
        <p:nvSpPr>
          <p:cNvPr id="2" name="text">
            <a:extLst xmlns:a="http://schemas.openxmlformats.org/drawingml/2006/main">
              <a:ext uri="{FF2B5EF4-FFF2-40B4-BE49-F238E27FC236}">
                <a16:creationId xmlns:a16="http://schemas.microsoft.com/office/drawing/2014/main" id="{9D7F6E18-2D62-486E-A391-A14C70295096}"/>
              </a:ext>
            </a:extLst>
          </p:cNvPr>
          <p:cNvSpPr>
            <a:spLocks xmlns:a="http://schemas.openxmlformats.org/drawingml/2006/main" noGrp="1"/>
          </p:cNvSpPr>
          <p:nvPr/>
        </p:nvSpPr>
        <p:spPr>
          <a:xfrm xmlns:a="http://schemas.openxmlformats.org/drawingml/2006/main">
            <a:off x="609600" y="11620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071"/>
                </a:solidFill>
                <a:latin typeface="Arial"/>
                <a:ea typeface="Arial"/>
                <a:cs typeface="Arial"/>
              </a:defRPr>
            </a:pPr>
            <a:r>
              <a:rPr sz="1500" b="0">
                <a:solidFill>
                  <a:srgbClr val="526071"/>
                </a:solidFill>
                <a:latin typeface="Arial"/>
                <a:ea typeface="Arial"/>
                <a:cs typeface="Arial"/>
              </a:rPr>
              <a:t>The failure is a chain of three missing controls.</a:t>
            </a:r>
          </a:p>
        </p:txBody>
      </p:sp>
      <p:sp>
        <p:nvSpPr>
          <p:cNvPr id="3" name="">
            <a:extLst xmlns:a="http://schemas.openxmlformats.org/drawingml/2006/main">
              <a:ext uri="{FF2B5EF4-FFF2-40B4-BE49-F238E27FC236}">
                <a16:creationId xmlns:a16="http://schemas.microsoft.com/office/drawing/2014/main" id="{9BA7BAEF-7123-424E-8466-B9457ABB9A45}"/>
              </a:ext>
            </a:extLst>
          </p:cNvPr>
          <p:cNvSpPr>
            <a:spLocks xmlns:a="http://schemas.openxmlformats.org/drawingml/2006/main" noGrp="1"/>
          </p:cNvSpPr>
          <p:nvPr/>
        </p:nvSpPr>
        <p:spPr>
          <a:xfrm xmlns:a="http://schemas.openxmlformats.org/drawingml/2006/main">
            <a:off x="609600" y="2076450"/>
            <a:ext cx="2571750" cy="38100"/>
          </a:xfrm>
          <a:prstGeom xmlns:a="http://schemas.openxmlformats.org/drawingml/2006/main" prst="rect">
            <a:avLst/>
          </a:prstGeom>
          <a:solidFill xmlns:a="http://schemas.openxmlformats.org/drawingml/2006/main">
            <a:srgbClr val="1F5A94"/>
          </a:solidFill>
          <a:ln xmlns:a="http://schemas.openxmlformats.org/drawingml/2006/main" w="0">
            <a:solidFill>
              <a:srgbClr val="1F5A94"/>
            </a:solidFill>
            <a:prstDash val="solid"/>
          </a:ln>
        </p:spPr>
      </p:sp>
      <p:sp>
        <p:nvSpPr>
          <p:cNvPr id="4" name="text">
            <a:extLst xmlns:a="http://schemas.openxmlformats.org/drawingml/2006/main">
              <a:ext uri="{FF2B5EF4-FFF2-40B4-BE49-F238E27FC236}">
                <a16:creationId xmlns:a16="http://schemas.microsoft.com/office/drawing/2014/main" id="{95A34442-7F59-4808-953C-FD9ED2FE0240}"/>
              </a:ext>
            </a:extLst>
          </p:cNvPr>
          <p:cNvSpPr>
            <a:spLocks xmlns:a="http://schemas.openxmlformats.org/drawingml/2006/main" noGrp="1"/>
          </p:cNvSpPr>
          <p:nvPr/>
        </p:nvSpPr>
        <p:spPr>
          <a:xfrm xmlns:a="http://schemas.openxmlformats.org/drawingml/2006/main">
            <a:off x="609600" y="2266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1F5A94"/>
                </a:solidFill>
                <a:latin typeface="Arial"/>
                <a:ea typeface="Arial"/>
                <a:cs typeface="Arial"/>
              </a:defRPr>
            </a:pPr>
            <a:r>
              <a:rPr sz="975" b="1">
                <a:solidFill>
                  <a:srgbClr val="1F5A94"/>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CCC36D98-738B-4858-997F-30DEB88E2ACF}"/>
              </a:ext>
            </a:extLst>
          </p:cNvPr>
          <p:cNvSpPr>
            <a:spLocks xmlns:a="http://schemas.openxmlformats.org/drawingml/2006/main" noGrp="1"/>
          </p:cNvSpPr>
          <p:nvPr/>
        </p:nvSpPr>
        <p:spPr>
          <a:xfrm xmlns:a="http://schemas.openxmlformats.org/drawingml/2006/main">
            <a:off x="609600" y="26479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43E"/>
                </a:solidFill>
                <a:latin typeface="Arial"/>
                <a:ea typeface="Arial"/>
                <a:cs typeface="Arial"/>
              </a:defRPr>
            </a:pPr>
            <a:r>
              <a:rPr sz="1800" b="1">
                <a:solidFill>
                  <a:srgbClr val="10243E"/>
                </a:solidFill>
                <a:latin typeface="Arial"/>
                <a:ea typeface="Arial"/>
                <a:cs typeface="Arial"/>
              </a:rPr>
              <a:t>Ciphertext is modifiable</a:t>
            </a:r>
          </a:p>
        </p:txBody>
      </p:sp>
      <p:sp>
        <p:nvSpPr>
          <p:cNvPr id="6" name="text">
            <a:extLst xmlns:a="http://schemas.openxmlformats.org/drawingml/2006/main">
              <a:ext uri="{FF2B5EF4-FFF2-40B4-BE49-F238E27FC236}">
                <a16:creationId xmlns:a16="http://schemas.microsoft.com/office/drawing/2014/main" id="{5A896605-4CF1-4443-B886-480A8498B119}"/>
              </a:ext>
            </a:extLst>
          </p:cNvPr>
          <p:cNvSpPr>
            <a:spLocks xmlns:a="http://schemas.openxmlformats.org/drawingml/2006/main" noGrp="1"/>
          </p:cNvSpPr>
          <p:nvPr/>
        </p:nvSpPr>
        <p:spPr>
          <a:xfrm xmlns:a="http://schemas.openxmlformats.org/drawingml/2006/main">
            <a:off x="609600" y="346710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The client controls the IV and encrypted state.</a:t>
            </a:r>
          </a:p>
        </p:txBody>
      </p:sp>
      <p:sp>
        <p:nvSpPr>
          <p:cNvPr id="7" name="">
            <a:extLst xmlns:a="http://schemas.openxmlformats.org/drawingml/2006/main">
              <a:ext uri="{FF2B5EF4-FFF2-40B4-BE49-F238E27FC236}">
                <a16:creationId xmlns:a16="http://schemas.microsoft.com/office/drawing/2014/main" id="{E5D5192D-D75A-41C4-85B3-8C89229AFF3D}"/>
              </a:ext>
            </a:extLst>
          </p:cNvPr>
          <p:cNvSpPr>
            <a:spLocks xmlns:a="http://schemas.openxmlformats.org/drawingml/2006/main" noGrp="1"/>
          </p:cNvSpPr>
          <p:nvPr/>
        </p:nvSpPr>
        <p:spPr>
          <a:xfrm xmlns:a="http://schemas.openxmlformats.org/drawingml/2006/main">
            <a:off x="3867150" y="3200400"/>
            <a:ext cx="419100" cy="209550"/>
          </a:xfrm>
          <a:prstGeom xmlns:a="http://schemas.openxmlformats.org/drawingml/2006/main" prst="rightArrow">
            <a:avLst/>
          </a:prstGeom>
          <a:solidFill xmlns:a="http://schemas.openxmlformats.org/drawingml/2006/main">
            <a:srgbClr val="9AA8B6"/>
          </a:solidFill>
          <a:ln xmlns:a="http://schemas.openxmlformats.org/drawingml/2006/main" w="0">
            <a:solidFill>
              <a:srgbClr val="9AA8B6"/>
            </a:solidFill>
            <a:prstDash val="solid"/>
          </a:ln>
        </p:spPr>
      </p:sp>
      <p:sp>
        <p:nvSpPr>
          <p:cNvPr id="8" name="">
            <a:extLst xmlns:a="http://schemas.openxmlformats.org/drawingml/2006/main">
              <a:ext uri="{FF2B5EF4-FFF2-40B4-BE49-F238E27FC236}">
                <a16:creationId xmlns:a16="http://schemas.microsoft.com/office/drawing/2014/main" id="{E44AE5C6-D7F6-42B8-AF2B-FC522880AC86}"/>
              </a:ext>
            </a:extLst>
          </p:cNvPr>
          <p:cNvSpPr>
            <a:spLocks xmlns:a="http://schemas.openxmlformats.org/drawingml/2006/main" noGrp="1"/>
          </p:cNvSpPr>
          <p:nvPr/>
        </p:nvSpPr>
        <p:spPr>
          <a:xfrm xmlns:a="http://schemas.openxmlformats.org/drawingml/2006/main">
            <a:off x="4495800" y="2076450"/>
            <a:ext cx="2571750" cy="38100"/>
          </a:xfrm>
          <a:prstGeom xmlns:a="http://schemas.openxmlformats.org/drawingml/2006/main" prst="rect">
            <a:avLst/>
          </a:prstGeom>
          <a:solidFill xmlns:a="http://schemas.openxmlformats.org/drawingml/2006/main">
            <a:srgbClr val="B45309"/>
          </a:solidFill>
          <a:ln xmlns:a="http://schemas.openxmlformats.org/drawingml/2006/main" w="0">
            <a:solidFill>
              <a:srgbClr val="B45309"/>
            </a:solidFill>
            <a:prstDash val="solid"/>
          </a:ln>
        </p:spPr>
      </p:sp>
      <p:sp>
        <p:nvSpPr>
          <p:cNvPr id="9" name="text">
            <a:extLst xmlns:a="http://schemas.openxmlformats.org/drawingml/2006/main">
              <a:ext uri="{FF2B5EF4-FFF2-40B4-BE49-F238E27FC236}">
                <a16:creationId xmlns:a16="http://schemas.microsoft.com/office/drawing/2014/main" id="{33476DE4-5C45-444C-91E4-9074B0EBC321}"/>
              </a:ext>
            </a:extLst>
          </p:cNvPr>
          <p:cNvSpPr>
            <a:spLocks xmlns:a="http://schemas.openxmlformats.org/drawingml/2006/main" noGrp="1"/>
          </p:cNvSpPr>
          <p:nvPr/>
        </p:nvSpPr>
        <p:spPr>
          <a:xfrm xmlns:a="http://schemas.openxmlformats.org/drawingml/2006/main">
            <a:off x="4495800" y="2266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B45309"/>
                </a:solidFill>
                <a:latin typeface="Arial"/>
                <a:ea typeface="Arial"/>
                <a:cs typeface="Arial"/>
              </a:defRPr>
            </a:pPr>
            <a:r>
              <a:rPr sz="975" b="1">
                <a:solidFill>
                  <a:srgbClr val="B45309"/>
                </a:solidFill>
                <a:latin typeface="Arial"/>
                <a:ea typeface="Arial"/>
                <a:cs typeface="Arial"/>
              </a:rPr>
              <a:t>02</a:t>
            </a:r>
          </a:p>
        </p:txBody>
      </p:sp>
      <p:sp>
        <p:nvSpPr>
          <p:cNvPr id="10" name="text">
            <a:extLst xmlns:a="http://schemas.openxmlformats.org/drawingml/2006/main">
              <a:ext uri="{FF2B5EF4-FFF2-40B4-BE49-F238E27FC236}">
                <a16:creationId xmlns:a16="http://schemas.microsoft.com/office/drawing/2014/main" id="{DBFD94E7-FE7D-4244-8946-3E3065881082}"/>
              </a:ext>
            </a:extLst>
          </p:cNvPr>
          <p:cNvSpPr>
            <a:spLocks xmlns:a="http://schemas.openxmlformats.org/drawingml/2006/main" noGrp="1"/>
          </p:cNvSpPr>
          <p:nvPr/>
        </p:nvSpPr>
        <p:spPr>
          <a:xfrm xmlns:a="http://schemas.openxmlformats.org/drawingml/2006/main">
            <a:off x="4495800" y="26479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43E"/>
                </a:solidFill>
                <a:latin typeface="Arial"/>
                <a:ea typeface="Arial"/>
                <a:cs typeface="Arial"/>
              </a:defRPr>
            </a:pPr>
            <a:r>
              <a:rPr sz="1800" b="1">
                <a:solidFill>
                  <a:srgbClr val="10243E"/>
                </a:solidFill>
                <a:latin typeface="Arial"/>
                <a:ea typeface="Arial"/>
                <a:cs typeface="Arial"/>
              </a:rPr>
              <a:t>Padding is observable</a:t>
            </a:r>
          </a:p>
        </p:txBody>
      </p:sp>
      <p:sp>
        <p:nvSpPr>
          <p:cNvPr id="11" name="text">
            <a:extLst xmlns:a="http://schemas.openxmlformats.org/drawingml/2006/main">
              <a:ext uri="{FF2B5EF4-FFF2-40B4-BE49-F238E27FC236}">
                <a16:creationId xmlns:a16="http://schemas.microsoft.com/office/drawing/2014/main" id="{8CDD3922-5D35-4F59-B155-780F08227B12}"/>
              </a:ext>
            </a:extLst>
          </p:cNvPr>
          <p:cNvSpPr>
            <a:spLocks xmlns:a="http://schemas.openxmlformats.org/drawingml/2006/main" noGrp="1"/>
          </p:cNvSpPr>
          <p:nvPr/>
        </p:nvSpPr>
        <p:spPr>
          <a:xfrm xmlns:a="http://schemas.openxmlformats.org/drawingml/2006/main">
            <a:off x="4495800" y="346710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The server separates invalid padding from other failures.</a:t>
            </a:r>
          </a:p>
        </p:txBody>
      </p:sp>
      <p:sp>
        <p:nvSpPr>
          <p:cNvPr id="12" name="">
            <a:extLst xmlns:a="http://schemas.openxmlformats.org/drawingml/2006/main">
              <a:ext uri="{FF2B5EF4-FFF2-40B4-BE49-F238E27FC236}">
                <a16:creationId xmlns:a16="http://schemas.microsoft.com/office/drawing/2014/main" id="{47F8FAA1-24E9-44D2-9A5B-0A7DCDEC25C8}"/>
              </a:ext>
            </a:extLst>
          </p:cNvPr>
          <p:cNvSpPr>
            <a:spLocks xmlns:a="http://schemas.openxmlformats.org/drawingml/2006/main" noGrp="1"/>
          </p:cNvSpPr>
          <p:nvPr/>
        </p:nvSpPr>
        <p:spPr>
          <a:xfrm xmlns:a="http://schemas.openxmlformats.org/drawingml/2006/main">
            <a:off x="7753350" y="3200400"/>
            <a:ext cx="419100" cy="209550"/>
          </a:xfrm>
          <a:prstGeom xmlns:a="http://schemas.openxmlformats.org/drawingml/2006/main" prst="rightArrow">
            <a:avLst/>
          </a:prstGeom>
          <a:solidFill xmlns:a="http://schemas.openxmlformats.org/drawingml/2006/main">
            <a:srgbClr val="9AA8B6"/>
          </a:solidFill>
          <a:ln xmlns:a="http://schemas.openxmlformats.org/drawingml/2006/main" w="0">
            <a:solidFill>
              <a:srgbClr val="9AA8B6"/>
            </a:solidFill>
            <a:prstDash val="solid"/>
          </a:ln>
        </p:spPr>
      </p:sp>
      <p:sp>
        <p:nvSpPr>
          <p:cNvPr id="13" name="">
            <a:extLst xmlns:a="http://schemas.openxmlformats.org/drawingml/2006/main">
              <a:ext uri="{FF2B5EF4-FFF2-40B4-BE49-F238E27FC236}">
                <a16:creationId xmlns:a16="http://schemas.microsoft.com/office/drawing/2014/main" id="{5BA5B438-575C-4D85-B35A-FFA0F401F4AF}"/>
              </a:ext>
            </a:extLst>
          </p:cNvPr>
          <p:cNvSpPr>
            <a:spLocks xmlns:a="http://schemas.openxmlformats.org/drawingml/2006/main" noGrp="1"/>
          </p:cNvSpPr>
          <p:nvPr/>
        </p:nvSpPr>
        <p:spPr>
          <a:xfrm xmlns:a="http://schemas.openxmlformats.org/drawingml/2006/main">
            <a:off x="8382000" y="2076450"/>
            <a:ext cx="2571750" cy="38100"/>
          </a:xfrm>
          <a:prstGeom xmlns:a="http://schemas.openxmlformats.org/drawingml/2006/main" prst="rect">
            <a:avLst/>
          </a:prstGeom>
          <a:solidFill xmlns:a="http://schemas.openxmlformats.org/drawingml/2006/main">
            <a:srgbClr val="991B1B"/>
          </a:solidFill>
          <a:ln xmlns:a="http://schemas.openxmlformats.org/drawingml/2006/main" w="0">
            <a:solidFill>
              <a:srgbClr val="991B1B"/>
            </a:solidFill>
            <a:prstDash val="solid"/>
          </a:ln>
        </p:spPr>
      </p:sp>
      <p:sp>
        <p:nvSpPr>
          <p:cNvPr id="14" name="text">
            <a:extLst xmlns:a="http://schemas.openxmlformats.org/drawingml/2006/main">
              <a:ext uri="{FF2B5EF4-FFF2-40B4-BE49-F238E27FC236}">
                <a16:creationId xmlns:a16="http://schemas.microsoft.com/office/drawing/2014/main" id="{51FDCDF9-F3A3-4A5D-AA72-5DAC7079C94F}"/>
              </a:ext>
            </a:extLst>
          </p:cNvPr>
          <p:cNvSpPr>
            <a:spLocks xmlns:a="http://schemas.openxmlformats.org/drawingml/2006/main" noGrp="1"/>
          </p:cNvSpPr>
          <p:nvPr/>
        </p:nvSpPr>
        <p:spPr>
          <a:xfrm xmlns:a="http://schemas.openxmlformats.org/drawingml/2006/main">
            <a:off x="8382000" y="2266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991B1B"/>
                </a:solidFill>
                <a:latin typeface="Arial"/>
                <a:ea typeface="Arial"/>
                <a:cs typeface="Arial"/>
              </a:defRPr>
            </a:pPr>
            <a:r>
              <a:rPr sz="975" b="1">
                <a:solidFill>
                  <a:srgbClr val="991B1B"/>
                </a:solidFill>
                <a:latin typeface="Arial"/>
                <a:ea typeface="Arial"/>
                <a:cs typeface="Arial"/>
              </a:rPr>
              <a:t>03</a:t>
            </a:r>
          </a:p>
        </p:txBody>
      </p:sp>
      <p:sp>
        <p:nvSpPr>
          <p:cNvPr id="15" name="text">
            <a:extLst xmlns:a="http://schemas.openxmlformats.org/drawingml/2006/main">
              <a:ext uri="{FF2B5EF4-FFF2-40B4-BE49-F238E27FC236}">
                <a16:creationId xmlns:a16="http://schemas.microsoft.com/office/drawing/2014/main" id="{CB6D6C68-4D9A-4D04-9044-DA552B5A9B9A}"/>
              </a:ext>
            </a:extLst>
          </p:cNvPr>
          <p:cNvSpPr>
            <a:spLocks xmlns:a="http://schemas.openxmlformats.org/drawingml/2006/main" noGrp="1"/>
          </p:cNvSpPr>
          <p:nvPr/>
        </p:nvSpPr>
        <p:spPr>
          <a:xfrm xmlns:a="http://schemas.openxmlformats.org/drawingml/2006/main">
            <a:off x="8382000" y="26479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43E"/>
                </a:solidFill>
                <a:latin typeface="Arial"/>
                <a:ea typeface="Arial"/>
                <a:cs typeface="Arial"/>
              </a:defRPr>
            </a:pPr>
            <a:r>
              <a:rPr sz="1800" b="1">
                <a:solidFill>
                  <a:srgbClr val="10243E"/>
                </a:solidFill>
                <a:latin typeface="Arial"/>
                <a:ea typeface="Arial"/>
                <a:cs typeface="Arial"/>
              </a:rPr>
              <a:t>Plaintext becomes authority</a:t>
            </a:r>
          </a:p>
        </p:txBody>
      </p:sp>
      <p:sp>
        <p:nvSpPr>
          <p:cNvPr id="16" name="text">
            <a:extLst xmlns:a="http://schemas.openxmlformats.org/drawingml/2006/main">
              <a:ext uri="{FF2B5EF4-FFF2-40B4-BE49-F238E27FC236}">
                <a16:creationId xmlns:a16="http://schemas.microsoft.com/office/drawing/2014/main" id="{27CE5510-86D3-496D-BA30-FB4F02058BC9}"/>
              </a:ext>
            </a:extLst>
          </p:cNvPr>
          <p:cNvSpPr>
            <a:spLocks xmlns:a="http://schemas.openxmlformats.org/drawingml/2006/main" noGrp="1"/>
          </p:cNvSpPr>
          <p:nvPr/>
        </p:nvSpPr>
        <p:spPr>
          <a:xfrm xmlns:a="http://schemas.openxmlformats.org/drawingml/2006/main">
            <a:off x="8382000" y="346710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The role is parsed and accepted without integrity verification.</a:t>
            </a:r>
          </a:p>
        </p:txBody>
      </p:sp>
      <p:sp>
        <p:nvSpPr>
          <p:cNvPr id="17" name="">
            <a:extLst xmlns:a="http://schemas.openxmlformats.org/drawingml/2006/main">
              <a:ext uri="{FF2B5EF4-FFF2-40B4-BE49-F238E27FC236}">
                <a16:creationId xmlns:a16="http://schemas.microsoft.com/office/drawing/2014/main" id="{959BA8AD-6968-4280-9712-F390CCCDAD3F}"/>
              </a:ext>
            </a:extLst>
          </p:cNvPr>
          <p:cNvSpPr>
            <a:spLocks xmlns:a="http://schemas.openxmlformats.org/drawingml/2006/main" noGrp="1"/>
          </p:cNvSpPr>
          <p:nvPr/>
        </p:nvSpPr>
        <p:spPr>
          <a:xfrm xmlns:a="http://schemas.openxmlformats.org/drawingml/2006/main">
            <a:off x="609600" y="4800600"/>
            <a:ext cx="10668000" cy="666750"/>
          </a:xfrm>
          <a:prstGeom xmlns:a="http://schemas.openxmlformats.org/drawingml/2006/main" prst="roundRect">
            <a:avLst>
              <a:gd name="adj" fmla="val 17143"/>
            </a:avLst>
          </a:prstGeom>
          <a:solidFill xmlns:a="http://schemas.openxmlformats.org/drawingml/2006/main">
            <a:srgbClr val="FEF2F2"/>
          </a:solidFill>
          <a:ln xmlns:a="http://schemas.openxmlformats.org/drawingml/2006/main" w="11430">
            <a:solidFill>
              <a:srgbClr val="F0B4B4"/>
            </a:solidFill>
            <a:prstDash val="solid"/>
          </a:ln>
        </p:spPr>
      </p:sp>
      <p:sp>
        <p:nvSpPr>
          <p:cNvPr id="18" name="text">
            <a:extLst xmlns:a="http://schemas.openxmlformats.org/drawingml/2006/main">
              <a:ext uri="{FF2B5EF4-FFF2-40B4-BE49-F238E27FC236}">
                <a16:creationId xmlns:a16="http://schemas.microsoft.com/office/drawing/2014/main" id="{7F04F509-FDC7-40F3-838D-42D16FEF0B66}"/>
              </a:ext>
            </a:extLst>
          </p:cNvPr>
          <p:cNvSpPr>
            <a:spLocks xmlns:a="http://schemas.openxmlformats.org/drawingml/2006/main" noGrp="1"/>
          </p:cNvSpPr>
          <p:nvPr/>
        </p:nvSpPr>
        <p:spPr>
          <a:xfrm xmlns:a="http://schemas.openxmlformats.org/drawingml/2006/main">
            <a:off x="876300" y="50101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991B1B"/>
                </a:solidFill>
                <a:latin typeface="Arial"/>
                <a:ea typeface="Arial"/>
                <a:cs typeface="Arial"/>
              </a:defRPr>
            </a:pPr>
            <a:r>
              <a:rPr sz="1350" b="1">
                <a:solidFill>
                  <a:srgbClr val="991B1B"/>
                </a:solidFill>
                <a:latin typeface="Arial"/>
                <a:ea typeface="Arial"/>
                <a:cs typeface="Arial"/>
              </a:rPr>
              <a:t>CWE-353  ·  Missing Support for Integrity Check</a:t>
            </a:r>
          </a:p>
        </p:txBody>
      </p:sp>
      <p:sp>
        <p:nvSpPr>
          <p:cNvPr id="19" name="text">
            <a:extLst xmlns:a="http://schemas.openxmlformats.org/drawingml/2006/main">
              <a:ext uri="{FF2B5EF4-FFF2-40B4-BE49-F238E27FC236}">
                <a16:creationId xmlns:a16="http://schemas.microsoft.com/office/drawing/2014/main" id="{C0D92E4B-041A-40FD-996C-A1A88D24A725}"/>
              </a:ext>
            </a:extLst>
          </p:cNvPr>
          <p:cNvSpPr>
            <a:spLocks xmlns:a="http://schemas.openxmlformats.org/drawingml/2006/main" noGrp="1"/>
          </p:cNvSpPr>
          <p:nvPr/>
        </p:nvSpPr>
        <p:spPr>
          <a:xfrm xmlns:a="http://schemas.openxmlformats.org/drawingml/2006/main">
            <a:off x="609600" y="57531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0243E"/>
                </a:solidFill>
                <a:latin typeface="Arial"/>
                <a:ea typeface="Arial"/>
                <a:cs typeface="Arial"/>
              </a:defRPr>
            </a:pPr>
            <a:r>
              <a:rPr sz="2100" b="1">
                <a:solidFill>
                  <a:srgbClr val="10243E"/>
                </a:solidFill>
                <a:latin typeface="Arial"/>
                <a:ea typeface="Arial"/>
                <a:cs typeface="Arial"/>
              </a:rPr>
              <a:t>AES is not the failing component.</a:t>
            </a:r>
          </a:p>
        </p:txBody>
      </p:sp>
      <p:sp>
        <p:nvSpPr>
          <p:cNvPr id="20" name="slide-number">
            <a:extLst xmlns:a="http://schemas.openxmlformats.org/drawingml/2006/main">
              <a:ext uri="{FF2B5EF4-FFF2-40B4-BE49-F238E27FC236}">
                <a16:creationId xmlns:a16="http://schemas.microsoft.com/office/drawing/2014/main" id="{4EE8BC68-B4F0-4B70-85CC-D384A1C9CAA7}"/>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09</a:t>
            </a:r>
          </a:p>
        </p:txBody>
      </p:sp>
    </p:spTree>
    <p:extLst>
      <p:ext uri="{BB962C8B-B14F-4D97-AF65-F5344CB8AC3E}">
        <p14:creationId xmlns:p14="http://schemas.microsoft.com/office/powerpoint/2010/main" val="11733244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7EFF50-1CE5-482B-A2AB-4899E937042B}"/>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Three terminal losses</a:t>
            </a:r>
          </a:p>
        </p:txBody>
      </p:sp>
      <p:graphicFrame>
        <p:nvGraphicFramePr>
          <p:cNvPr id="6" name=""/>
          <p:cNvGraphicFramePr/>
          <p:nvPr/>
        </p:nvGraphicFramePr>
        <p:xfrm>
          <a:off xmlns:a="http://schemas.openxmlformats.org/drawingml/2006/main" x="609600" y="1600200"/>
          <a:ext xmlns:a="http://schemas.openxmlformats.org/drawingml/2006/main" cx="10972800" cy="3143250"/>
        </p:xfrm>
        <a:graphic xmlns:a="http://schemas.openxmlformats.org/drawingml/2006/main">
          <a:graphicData uri="http://schemas.openxmlformats.org/drawingml/2006/table">
            <a:tbl>
              <a:tblPr firstRow="0" bandRow="0"/>
              <a:tblGrid>
                <a:gridCol w="1190625"/>
                <a:gridCol w="3381375"/>
                <a:gridCol w="6400800"/>
              </a:tblGrid>
              <a:tr h="785813">
                <a:tc>
                  <a:txBody>
                    <a:bodyPr lIns="95250" tIns="66675" rIns="95250" bIns="66675"/>
                    <a:lstStyle/>
                    <a:p>
                      <a:r>
                        <a:rPr sz="1350" b="1">
                          <a:solidFill>
                            <a:srgbClr val="FFFFFF"/>
                          </a:solidFill>
                          <a:latin typeface="Arial"/>
                          <a:ea typeface="Arial"/>
                          <a:cs typeface="Arial"/>
                        </a:rPr>
                        <a:t>STATE</a:t>
                      </a:r>
                    </a:p>
                  </a:txBody>
                  <a:tcPr marL="91440" marR="91440" marT="45720" marB="45720" anchor="ctr">
                    <a:solidFill>
                      <a:srgbClr val="10243E"/>
                    </a:solidFill>
                  </a:tcPr>
                </a:tc>
                <a:tc>
                  <a:txBody>
                    <a:bodyPr lIns="95250" tIns="66675" rIns="95250" bIns="66675"/>
                    <a:lstStyle/>
                    <a:p>
                      <a:r>
                        <a:rPr sz="1350" b="1">
                          <a:solidFill>
                            <a:srgbClr val="FFFFFF"/>
                          </a:solidFill>
                          <a:latin typeface="Arial"/>
                          <a:ea typeface="Arial"/>
                          <a:cs typeface="Arial"/>
                        </a:rPr>
                        <a:t>LOSS</a:t>
                      </a:r>
                    </a:p>
                  </a:txBody>
                  <a:tcPr marL="91440" marR="91440" marT="45720" marB="45720" anchor="ctr">
                    <a:solidFill>
                      <a:srgbClr val="10243E"/>
                    </a:solidFill>
                  </a:tcPr>
                </a:tc>
                <a:tc>
                  <a:txBody>
                    <a:bodyPr lIns="95250" tIns="66675" rIns="95250" bIns="66675"/>
                    <a:lstStyle/>
                    <a:p>
                      <a:r>
                        <a:rPr sz="1350" b="1">
                          <a:solidFill>
                            <a:srgbClr val="FFFFFF"/>
                          </a:solidFill>
                          <a:latin typeface="Arial"/>
                          <a:ea typeface="Arial"/>
                          <a:cs typeface="Arial"/>
                        </a:rPr>
                        <a:t>EVIDENCE</a:t>
                      </a:r>
                    </a:p>
                  </a:txBody>
                  <a:tcPr marL="91440" marR="91440" marT="45720" marB="45720" anchor="ctr">
                    <a:solidFill>
                      <a:srgbClr val="10243E"/>
                    </a:solidFill>
                  </a:tcPr>
                </a:tc>
              </a:tr>
              <a:tr h="785813">
                <a:tc>
                  <a:txBody>
                    <a:bodyPr lIns="133350" tIns="76200" rIns="95250" bIns="76200"/>
                    <a:lstStyle/>
                    <a:p>
                      <a:r>
                        <a:rPr sz="1950" b="1">
                          <a:solidFill>
                            <a:srgbClr val="991B1B"/>
                          </a:solidFill>
                          <a:latin typeface="Arial"/>
                          <a:ea typeface="Arial"/>
                          <a:cs typeface="Arial"/>
                        </a:rPr>
                        <a:t>K1</a:t>
                      </a:r>
                    </a:p>
                  </a:txBody>
                  <a:tcPr marL="91440" marR="91440" marT="45720" marB="45720" anchor="ctr">
                    <a:solidFill>
                      <a:srgbClr val="FEF2F2"/>
                    </a:solidFill>
                  </a:tcPr>
                </a:tc>
                <a:tc>
                  <a:txBody>
                    <a:bodyPr lIns="95250" tIns="66675" rIns="95250" bIns="66675"/>
                    <a:lstStyle/>
                    <a:p>
                      <a:r>
                        <a:rPr sz="1350" b="0">
                          <a:solidFill>
                            <a:srgbClr val="0B1220"/>
                          </a:solidFill>
                          <a:latin typeface="Arial"/>
                          <a:ea typeface="Arial"/>
                          <a:cs typeface="Arial"/>
                        </a:rPr>
                        <a:t>Information theft</a:t>
                      </a:r>
                    </a:p>
                  </a:txBody>
                  <a:tcPr marL="91440" marR="91440" marT="45720" marB="45720" anchor="ctr">
                    <a:solidFill>
                      <a:srgbClr val="FFFFFF"/>
                    </a:solidFill>
                  </a:tcPr>
                </a:tc>
                <a:tc>
                  <a:txBody>
                    <a:bodyPr lIns="95250" tIns="66675" rIns="95250" bIns="66675"/>
                    <a:lstStyle/>
                    <a:p>
                      <a:r>
                        <a:rPr sz="1350" b="0">
                          <a:solidFill>
                            <a:srgbClr val="0B1220"/>
                          </a:solidFill>
                          <a:latin typeface="Arial"/>
                          <a:ea typeface="Arial"/>
                          <a:cs typeface="Arial"/>
                        </a:rPr>
                        <a:t>The complete plaintext is recovered without the key.</a:t>
                      </a:r>
                    </a:p>
                  </a:txBody>
                  <a:tcPr marL="91440" marR="91440" marT="45720" marB="45720" anchor="ctr">
                    <a:solidFill>
                      <a:srgbClr val="FFFFFF"/>
                    </a:solidFill>
                  </a:tcPr>
                </a:tc>
              </a:tr>
              <a:tr h="785813">
                <a:tc>
                  <a:txBody>
                    <a:bodyPr lIns="133350" tIns="76200" rIns="95250" bIns="76200"/>
                    <a:lstStyle/>
                    <a:p>
                      <a:r>
                        <a:rPr sz="1950" b="1">
                          <a:solidFill>
                            <a:srgbClr val="991B1B"/>
                          </a:solidFill>
                          <a:latin typeface="Arial"/>
                          <a:ea typeface="Arial"/>
                          <a:cs typeface="Arial"/>
                        </a:rPr>
                        <a:t>K2</a:t>
                      </a:r>
                    </a:p>
                  </a:txBody>
                  <a:tcPr marL="91440" marR="91440" marT="45720" marB="45720" anchor="ctr">
                    <a:solidFill>
                      <a:srgbClr val="FEF2F2"/>
                    </a:solidFill>
                  </a:tcPr>
                </a:tc>
                <a:tc>
                  <a:txBody>
                    <a:bodyPr lIns="95250" tIns="66675" rIns="95250" bIns="66675"/>
                    <a:lstStyle/>
                    <a:p>
                      <a:r>
                        <a:rPr sz="1350" b="0">
                          <a:solidFill>
                            <a:srgbClr val="0B1220"/>
                          </a:solidFill>
                          <a:latin typeface="Arial"/>
                          <a:ea typeface="Arial"/>
                          <a:cs typeface="Arial"/>
                        </a:rPr>
                        <a:t>Modification or unauthorized access</a:t>
                      </a:r>
                    </a:p>
                  </a:txBody>
                  <a:tcPr marL="91440" marR="91440" marT="45720" marB="45720" anchor="ctr">
                    <a:solidFill>
                      <a:srgbClr val="FFFFFF"/>
                    </a:solidFill>
                  </a:tcPr>
                </a:tc>
                <a:tc>
                  <a:txBody>
                    <a:bodyPr lIns="95250" tIns="66675" rIns="95250" bIns="66675"/>
                    <a:lstStyle/>
                    <a:p>
                      <a:r>
                        <a:rPr sz="1350" b="0">
                          <a:solidFill>
                            <a:srgbClr val="0B1220"/>
                          </a:solidFill>
                          <a:latin typeface="Arial"/>
                          <a:ea typeface="Arial"/>
                          <a:cs typeface="Arial"/>
                        </a:rPr>
                        <a:t>The role is forged from user to root and accepted.</a:t>
                      </a:r>
                    </a:p>
                  </a:txBody>
                  <a:tcPr marL="91440" marR="91440" marT="45720" marB="45720" anchor="ctr">
                    <a:solidFill>
                      <a:srgbClr val="FFFFFF"/>
                    </a:solidFill>
                  </a:tcPr>
                </a:tc>
              </a:tr>
              <a:tr h="785813">
                <a:tc>
                  <a:txBody>
                    <a:bodyPr lIns="133350" tIns="76200" rIns="95250" bIns="76200"/>
                    <a:lstStyle/>
                    <a:p>
                      <a:r>
                        <a:rPr sz="1950" b="1">
                          <a:solidFill>
                            <a:srgbClr val="991B1B"/>
                          </a:solidFill>
                          <a:latin typeface="Arial"/>
                          <a:ea typeface="Arial"/>
                          <a:cs typeface="Arial"/>
                        </a:rPr>
                        <a:t>K3</a:t>
                      </a:r>
                    </a:p>
                  </a:txBody>
                  <a:tcPr marL="91440" marR="91440" marT="45720" marB="45720" anchor="ctr">
                    <a:solidFill>
                      <a:srgbClr val="FEF2F2"/>
                    </a:solidFill>
                  </a:tcPr>
                </a:tc>
                <a:tc>
                  <a:txBody>
                    <a:bodyPr lIns="95250" tIns="66675" rIns="95250" bIns="66675"/>
                    <a:lstStyle/>
                    <a:p>
                      <a:r>
                        <a:rPr sz="1350" b="0">
                          <a:solidFill>
                            <a:srgbClr val="0B1220"/>
                          </a:solidFill>
                          <a:latin typeface="Arial"/>
                          <a:ea typeface="Arial"/>
                          <a:cs typeface="Arial"/>
                        </a:rPr>
                        <a:t>Denial of service or access</a:t>
                      </a:r>
                    </a:p>
                  </a:txBody>
                  <a:tcPr marL="91440" marR="91440" marT="45720" marB="45720" anchor="ctr">
                    <a:solidFill>
                      <a:srgbClr val="FFFFFF"/>
                    </a:solidFill>
                  </a:tcPr>
                </a:tc>
                <a:tc>
                  <a:txBody>
                    <a:bodyPr lIns="95250" tIns="66675" rIns="95250" bIns="66675"/>
                    <a:lstStyle/>
                    <a:p>
                      <a:r>
                        <a:rPr sz="1350" b="0">
                          <a:solidFill>
                            <a:srgbClr val="0B1220"/>
                          </a:solidFill>
                          <a:latin typeface="Arial"/>
                          <a:ea typeface="Arial"/>
                          <a:cs typeface="Arial"/>
                        </a:rPr>
                        <a:t>Conditional: probing may trigger lockout or resource pressure.</a:t>
                      </a:r>
                    </a:p>
                  </a:txBody>
                  <a:tcPr marL="91440" marR="91440" marT="45720" marB="45720" anchor="ctr">
                    <a:solidFill>
                      <a:srgbClr val="FFFFFF"/>
                    </a:solidFill>
                  </a:tcPr>
                </a:tc>
              </a:tr>
            </a:tbl>
          </a:graphicData>
        </a:graphic>
      </p:graphicFrame>
      <p:sp>
        <p:nvSpPr>
          <p:cNvPr id="3" name="text">
            <a:extLst xmlns:a="http://schemas.openxmlformats.org/drawingml/2006/main">
              <a:ext uri="{FF2B5EF4-FFF2-40B4-BE49-F238E27FC236}">
                <a16:creationId xmlns:a16="http://schemas.microsoft.com/office/drawing/2014/main" id="{A046123F-953F-456F-BAB3-B4D728F66BA1}"/>
              </a:ext>
            </a:extLst>
          </p:cNvPr>
          <p:cNvSpPr>
            <a:spLocks xmlns:a="http://schemas.openxmlformats.org/drawingml/2006/main" noGrp="1"/>
          </p:cNvSpPr>
          <p:nvPr/>
        </p:nvSpPr>
        <p:spPr>
          <a:xfrm xmlns:a="http://schemas.openxmlformats.org/drawingml/2006/main">
            <a:off x="609600" y="51816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071"/>
                </a:solidFill>
                <a:latin typeface="Arial"/>
                <a:ea typeface="Arial"/>
                <a:cs typeface="Arial"/>
              </a:defRPr>
            </a:pPr>
            <a:r>
              <a:rPr sz="1350" b="0">
                <a:solidFill>
                  <a:srgbClr val="526071"/>
                </a:solidFill>
                <a:latin typeface="Arial"/>
                <a:ea typeface="Arial"/>
                <a:cs typeface="Arial"/>
              </a:rPr>
              <a:t>K1 and K2 are demonstrated. K3 remains in the graph because the query loop can change availability, not because every target will experience it.</a:t>
            </a:r>
          </a:p>
        </p:txBody>
      </p:sp>
      <p:sp>
        <p:nvSpPr>
          <p:cNvPr id="4" name="slide-number">
            <a:extLst xmlns:a="http://schemas.openxmlformats.org/drawingml/2006/main">
              <a:ext uri="{FF2B5EF4-FFF2-40B4-BE49-F238E27FC236}">
                <a16:creationId xmlns:a16="http://schemas.microsoft.com/office/drawing/2014/main" id="{3A1705E6-C234-4D00-A3CF-C2957E8D96E8}"/>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10</a:t>
            </a:r>
          </a:p>
        </p:txBody>
      </p:sp>
    </p:spTree>
    <p:extLst>
      <p:ext uri="{BB962C8B-B14F-4D97-AF65-F5344CB8AC3E}">
        <p14:creationId xmlns:p14="http://schemas.microsoft.com/office/powerpoint/2010/main" val="1645401149"/>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4F8609A-CCFA-4C78-88E9-1E2974CDB2FA}"/>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10243E"/>
                </a:solidFill>
                <a:latin typeface="Arial"/>
                <a:ea typeface="Arial"/>
                <a:cs typeface="Arial"/>
              </a:defRPr>
            </a:pPr>
            <a:r>
              <a:rPr sz="3000" b="1">
                <a:solidFill>
                  <a:srgbClr val="10243E"/>
                </a:solidFill>
                <a:latin typeface="Arial"/>
                <a:ea typeface="Arial"/>
                <a:cs typeface="Arial"/>
              </a:rPr>
              <a:t>Countermeasures</a:t>
            </a:r>
          </a:p>
        </p:txBody>
      </p:sp>
      <p:sp>
        <p:nvSpPr>
          <p:cNvPr id="2" name="text">
            <a:extLst xmlns:a="http://schemas.openxmlformats.org/drawingml/2006/main">
              <a:ext uri="{FF2B5EF4-FFF2-40B4-BE49-F238E27FC236}">
                <a16:creationId xmlns:a16="http://schemas.microsoft.com/office/drawing/2014/main" id="{89AB79E9-64BF-4CF1-AE59-459C2706D4B6}"/>
              </a:ext>
            </a:extLst>
          </p:cNvPr>
          <p:cNvSpPr>
            <a:spLocks xmlns:a="http://schemas.openxmlformats.org/drawingml/2006/main" noGrp="1"/>
          </p:cNvSpPr>
          <p:nvPr/>
        </p:nvSpPr>
        <p:spPr>
          <a:xfrm xmlns:a="http://schemas.openxmlformats.org/drawingml/2006/main">
            <a:off x="609600" y="11430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071"/>
                </a:solidFill>
                <a:latin typeface="Arial"/>
                <a:ea typeface="Arial"/>
                <a:cs typeface="Arial"/>
              </a:defRPr>
            </a:pPr>
            <a:r>
              <a:rPr sz="1500" b="0">
                <a:solidFill>
                  <a:srgbClr val="526071"/>
                </a:solidFill>
                <a:latin typeface="Arial"/>
                <a:ea typeface="Arial"/>
                <a:cs typeface="Arial"/>
              </a:rPr>
              <a:t>Break the oracle edge, then remove the trust decision.</a:t>
            </a:r>
          </a:p>
        </p:txBody>
      </p:sp>
      <p:graphicFrame>
        <p:nvGraphicFramePr>
          <p:cNvPr id="9" name=""/>
          <p:cNvGraphicFramePr/>
          <p:nvPr/>
        </p:nvGraphicFramePr>
        <p:xfrm>
          <a:off xmlns:a="http://schemas.openxmlformats.org/drawingml/2006/main" x="609600" y="1676400"/>
          <a:ext xmlns:a="http://schemas.openxmlformats.org/drawingml/2006/main" cx="10972800" cy="3276600"/>
        </p:xfrm>
        <a:graphic xmlns:a="http://schemas.openxmlformats.org/drawingml/2006/main">
          <a:graphicData uri="http://schemas.openxmlformats.org/drawingml/2006/table">
            <a:tbl>
              <a:tblPr firstRow="0" bandRow="0"/>
              <a:tblGrid>
                <a:gridCol w="1428750"/>
                <a:gridCol w="5191125"/>
                <a:gridCol w="4352925"/>
              </a:tblGrid>
              <a:tr h="655320">
                <a:tc>
                  <a:txBody>
                    <a:bodyPr lIns="95250" tIns="66675" rIns="95250" bIns="66675"/>
                    <a:lstStyle/>
                    <a:p>
                      <a:r>
                        <a:rPr sz="1275" b="1">
                          <a:solidFill>
                            <a:srgbClr val="FFFFFF"/>
                          </a:solidFill>
                          <a:latin typeface="Arial"/>
                          <a:ea typeface="Arial"/>
                          <a:cs typeface="Arial"/>
                        </a:rPr>
                        <a:t>LAYER</a:t>
                      </a:r>
                    </a:p>
                  </a:txBody>
                  <a:tcPr marL="91440" marR="91440" marT="45720" marB="45720" anchor="ctr">
                    <a:solidFill>
                      <a:srgbClr val="10243E"/>
                    </a:solidFill>
                  </a:tcPr>
                </a:tc>
                <a:tc>
                  <a:txBody>
                    <a:bodyPr lIns="95250" tIns="66675" rIns="95250" bIns="66675"/>
                    <a:lstStyle/>
                    <a:p>
                      <a:r>
                        <a:rPr sz="1275" b="1">
                          <a:solidFill>
                            <a:srgbClr val="FFFFFF"/>
                          </a:solidFill>
                          <a:latin typeface="Arial"/>
                          <a:ea typeface="Arial"/>
                          <a:cs typeface="Arial"/>
                        </a:rPr>
                        <a:t>CONTROL</a:t>
                      </a:r>
                    </a:p>
                  </a:txBody>
                  <a:tcPr marL="91440" marR="91440" marT="45720" marB="45720" anchor="ctr">
                    <a:solidFill>
                      <a:srgbClr val="10243E"/>
                    </a:solidFill>
                  </a:tcPr>
                </a:tc>
                <a:tc>
                  <a:txBody>
                    <a:bodyPr lIns="95250" tIns="66675" rIns="95250" bIns="66675"/>
                    <a:lstStyle/>
                    <a:p>
                      <a:r>
                        <a:rPr sz="1275" b="1">
                          <a:solidFill>
                            <a:srgbClr val="FFFFFF"/>
                          </a:solidFill>
                          <a:latin typeface="Arial"/>
                          <a:ea typeface="Arial"/>
                          <a:cs typeface="Arial"/>
                        </a:rPr>
                        <a:t>EFFECT</a:t>
                      </a:r>
                    </a:p>
                  </a:txBody>
                  <a:tcPr marL="91440" marR="91440" marT="45720" marB="45720" anchor="ctr">
                    <a:solidFill>
                      <a:srgbClr val="10243E"/>
                    </a:solidFill>
                  </a:tcPr>
                </a:tc>
              </a:tr>
              <a:tr h="655320">
                <a:tc>
                  <a:txBody>
                    <a:bodyPr lIns="95250" tIns="66675" rIns="95250" bIns="66675"/>
                    <a:lstStyle/>
                    <a:p>
                      <a:r>
                        <a:rPr sz="1275" b="0">
                          <a:solidFill>
                            <a:srgbClr val="0B1220"/>
                          </a:solidFill>
                          <a:latin typeface="Arial"/>
                          <a:ea typeface="Arial"/>
                          <a:cs typeface="Arial"/>
                        </a:rPr>
                        <a:t>Primary</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AES-GCM or ChaCha20-Poly1305; verify the tag before parsing.</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Modification becomes a hard authentication failure.</a:t>
                      </a:r>
                    </a:p>
                  </a:txBody>
                  <a:tcPr marL="91440" marR="91440" marT="45720" marB="45720" anchor="ctr">
                    <a:solidFill>
                      <a:srgbClr val="FFFFFF"/>
                    </a:solidFill>
                  </a:tcPr>
                </a:tc>
              </a:tr>
              <a:tr h="655320">
                <a:tc>
                  <a:txBody>
                    <a:bodyPr lIns="95250" tIns="66675" rIns="95250" bIns="66675"/>
                    <a:lstStyle/>
                    <a:p>
                      <a:r>
                        <a:rPr sz="1275" b="0">
                          <a:solidFill>
                            <a:srgbClr val="0B1220"/>
                          </a:solidFill>
                          <a:latin typeface="Arial"/>
                          <a:ea typeface="Arial"/>
                          <a:cs typeface="Arial"/>
                        </a:rPr>
                        <a:t>Compatibility</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If CBC must stay: Encrypt-then-MAC with constant-time comparison.</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Forged predecessors are rejected before the padding check.</a:t>
                      </a:r>
                    </a:p>
                  </a:txBody>
                  <a:tcPr marL="91440" marR="91440" marT="45720" marB="45720" anchor="ctr">
                    <a:solidFill>
                      <a:srgbClr val="FFFFFF"/>
                    </a:solidFill>
                  </a:tcPr>
                </a:tc>
              </a:tr>
              <a:tr h="655320">
                <a:tc>
                  <a:txBody>
                    <a:bodyPr lIns="95250" tIns="66675" rIns="95250" bIns="66675"/>
                    <a:lstStyle/>
                    <a:p>
                      <a:r>
                        <a:rPr sz="1275" b="0">
                          <a:solidFill>
                            <a:srgbClr val="0B1220"/>
                          </a:solidFill>
                          <a:latin typeface="Arial"/>
                          <a:ea typeface="Arial"/>
                          <a:cs typeface="Arial"/>
                        </a:rPr>
                        <a:t>Behavior</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One generic failure path; avoid secret-dependent branches and timing.</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The valid-padding distinction is no longer observable.</a:t>
                      </a:r>
                    </a:p>
                  </a:txBody>
                  <a:tcPr marL="91440" marR="91440" marT="45720" marB="45720" anchor="ctr">
                    <a:solidFill>
                      <a:srgbClr val="FFFFFF"/>
                    </a:solidFill>
                  </a:tcPr>
                </a:tc>
              </a:tr>
              <a:tr h="655320">
                <a:tc>
                  <a:txBody>
                    <a:bodyPr lIns="95250" tIns="66675" rIns="95250" bIns="66675"/>
                    <a:lstStyle/>
                    <a:p>
                      <a:r>
                        <a:rPr sz="1275" b="0">
                          <a:solidFill>
                            <a:srgbClr val="0B1220"/>
                          </a:solidFill>
                          <a:latin typeface="Arial"/>
                          <a:ea typeface="Arial"/>
                          <a:cs typeface="Arial"/>
                        </a:rPr>
                        <a:t>Operations</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Rate limits, alerting, key rotation, and tamper regression tests.</a:t>
                      </a:r>
                    </a:p>
                  </a:txBody>
                  <a:tcPr marL="91440" marR="91440" marT="45720" marB="45720" anchor="ctr">
                    <a:solidFill>
                      <a:srgbClr val="FFFFFF"/>
                    </a:solidFill>
                  </a:tcPr>
                </a:tc>
                <a:tc>
                  <a:txBody>
                    <a:bodyPr lIns="95250" tIns="66675" rIns="95250" bIns="66675"/>
                    <a:lstStyle/>
                    <a:p>
                      <a:r>
                        <a:rPr sz="1275" b="0">
                          <a:solidFill>
                            <a:srgbClr val="0B1220"/>
                          </a:solidFill>
                          <a:latin typeface="Arial"/>
                          <a:ea typeface="Arial"/>
                          <a:cs typeface="Arial"/>
                        </a:rPr>
                        <a:t>Probing is contained and old captured tokens are invalidated.</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A18BDC-EC52-4A89-9FFF-E7266AA83660}"/>
              </a:ext>
            </a:extLst>
          </p:cNvPr>
          <p:cNvSpPr>
            <a:spLocks xmlns:a="http://schemas.openxmlformats.org/drawingml/2006/main" noGrp="1"/>
          </p:cNvSpPr>
          <p:nvPr/>
        </p:nvSpPr>
        <p:spPr>
          <a:xfrm xmlns:a="http://schemas.openxmlformats.org/drawingml/2006/main">
            <a:off x="609600" y="5257800"/>
            <a:ext cx="10972800" cy="628650"/>
          </a:xfrm>
          <a:prstGeom xmlns:a="http://schemas.openxmlformats.org/drawingml/2006/main" prst="roundRect">
            <a:avLst>
              <a:gd name="adj" fmla="val 18182"/>
            </a:avLst>
          </a:prstGeom>
          <a:solidFill xmlns:a="http://schemas.openxmlformats.org/drawingml/2006/main">
            <a:srgbClr val="10243E"/>
          </a:solidFill>
          <a:ln xmlns:a="http://schemas.openxmlformats.org/drawingml/2006/main" w="11430">
            <a:solidFill>
              <a:srgbClr val="10243E"/>
            </a:solidFill>
            <a:prstDash val="solid"/>
          </a:ln>
        </p:spPr>
      </p:sp>
      <p:sp>
        <p:nvSpPr>
          <p:cNvPr id="5" name="text">
            <a:extLst xmlns:a="http://schemas.openxmlformats.org/drawingml/2006/main">
              <a:ext uri="{FF2B5EF4-FFF2-40B4-BE49-F238E27FC236}">
                <a16:creationId xmlns:a16="http://schemas.microsoft.com/office/drawing/2014/main" id="{462A1BD9-5616-4352-B404-DD5A1E210B42}"/>
              </a:ext>
            </a:extLst>
          </p:cNvPr>
          <p:cNvSpPr>
            <a:spLocks xmlns:a="http://schemas.openxmlformats.org/drawingml/2006/main" noGrp="1"/>
          </p:cNvSpPr>
          <p:nvPr/>
        </p:nvSpPr>
        <p:spPr>
          <a:xfrm xmlns:a="http://schemas.openxmlformats.org/drawingml/2006/main">
            <a:off x="895350" y="543877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7DD3FC"/>
                </a:solidFill>
                <a:latin typeface="Arial"/>
                <a:ea typeface="Arial"/>
                <a:cs typeface="Arial"/>
              </a:defRPr>
            </a:pPr>
            <a:r>
              <a:rPr sz="1800" b="1">
                <a:solidFill>
                  <a:srgbClr val="7DD3FC"/>
                </a:solidFill>
                <a:latin typeface="Arial"/>
                <a:ea typeface="Arial"/>
                <a:cs typeface="Arial"/>
              </a:rPr>
              <a:t>verify_tag  →  decrypt  →  validate  →  parse</a:t>
            </a:r>
          </a:p>
        </p:txBody>
      </p:sp>
      <p:sp>
        <p:nvSpPr>
          <p:cNvPr id="6" name="slide-number">
            <a:extLst xmlns:a="http://schemas.openxmlformats.org/drawingml/2006/main">
              <a:ext uri="{FF2B5EF4-FFF2-40B4-BE49-F238E27FC236}">
                <a16:creationId xmlns:a16="http://schemas.microsoft.com/office/drawing/2014/main" id="{646FD4DB-9962-4EBF-8441-596235F8AFA5}"/>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7A8998"/>
                </a:solidFill>
                <a:latin typeface="Arial"/>
                <a:ea typeface="Arial"/>
                <a:cs typeface="Arial"/>
              </a:defRPr>
            </a:pPr>
            <a:r>
              <a:rPr sz="825" b="0">
                <a:solidFill>
                  <a:srgbClr val="7A8998"/>
                </a:solidFill>
                <a:latin typeface="Arial"/>
                <a:ea typeface="Arial"/>
                <a:cs typeface="Arial"/>
              </a:rPr>
              <a:t>11</a:t>
            </a:r>
          </a:p>
        </p:txBody>
      </p:sp>
    </p:spTree>
    <p:extLst>
      <p:ext uri="{BB962C8B-B14F-4D97-AF65-F5344CB8AC3E}">
        <p14:creationId xmlns:p14="http://schemas.microsoft.com/office/powerpoint/2010/main" val="1333230032"/>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A572109-B1AD-4DC3-9D79-5347068BD284}"/>
              </a:ext>
            </a:extLst>
          </p:cNvPr>
          <p:cNvSpPr>
            <a:spLocks xmlns:a="http://schemas.openxmlformats.org/drawingml/2006/main" noGrp="1"/>
          </p:cNvSpPr>
          <p:nvPr/>
        </p:nvSpPr>
        <p:spPr>
          <a:xfrm xmlns:a="http://schemas.openxmlformats.org/drawingml/2006/main">
            <a:off x="609600" y="4191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FFFFFF"/>
                </a:solidFill>
                <a:latin typeface="Arial"/>
                <a:ea typeface="Arial"/>
                <a:cs typeface="Arial"/>
              </a:defRPr>
            </a:pPr>
            <a:r>
              <a:rPr sz="3600" b="1">
                <a:solidFill>
                  <a:srgbClr val="FFFFFF"/>
                </a:solidFill>
                <a:latin typeface="Arial"/>
                <a:ea typeface="Arial"/>
                <a:cs typeface="Arial"/>
              </a:rPr>
              <a:t>Authenticate before parsing</a:t>
            </a:r>
          </a:p>
        </p:txBody>
      </p:sp>
      <p:sp>
        <p:nvSpPr>
          <p:cNvPr id="2" name="text">
            <a:extLst xmlns:a="http://schemas.openxmlformats.org/drawingml/2006/main">
              <a:ext uri="{FF2B5EF4-FFF2-40B4-BE49-F238E27FC236}">
                <a16:creationId xmlns:a16="http://schemas.microsoft.com/office/drawing/2014/main" id="{631AE831-0289-40DB-93AC-42C7D115F0CA}"/>
              </a:ext>
            </a:extLst>
          </p:cNvPr>
          <p:cNvSpPr>
            <a:spLocks xmlns:a="http://schemas.openxmlformats.org/drawingml/2006/main" noGrp="1"/>
          </p:cNvSpPr>
          <p:nvPr/>
        </p:nvSpPr>
        <p:spPr>
          <a:xfrm xmlns:a="http://schemas.openxmlformats.org/drawingml/2006/main">
            <a:off x="609600" y="12192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C9D9E6"/>
                </a:solidFill>
                <a:latin typeface="Arial"/>
                <a:ea typeface="Arial"/>
                <a:cs typeface="Arial"/>
              </a:defRPr>
            </a:pPr>
            <a:r>
              <a:rPr sz="1575" b="0">
                <a:solidFill>
                  <a:srgbClr val="C9D9E6"/>
                </a:solidFill>
                <a:latin typeface="Arial"/>
                <a:ea typeface="Arial"/>
                <a:cs typeface="Arial"/>
              </a:rPr>
              <a:t>Three rules close the demonstrated path.</a:t>
            </a:r>
          </a:p>
        </p:txBody>
      </p:sp>
      <p:sp>
        <p:nvSpPr>
          <p:cNvPr id="3" name="text">
            <a:extLst xmlns:a="http://schemas.openxmlformats.org/drawingml/2006/main">
              <a:ext uri="{FF2B5EF4-FFF2-40B4-BE49-F238E27FC236}">
                <a16:creationId xmlns:a16="http://schemas.microsoft.com/office/drawing/2014/main" id="{538FCD60-133E-4290-B9EA-56904BA1799C}"/>
              </a:ext>
            </a:extLst>
          </p:cNvPr>
          <p:cNvSpPr>
            <a:spLocks xmlns:a="http://schemas.openxmlformats.org/drawingml/2006/main" noGrp="1"/>
          </p:cNvSpPr>
          <p:nvPr/>
        </p:nvSpPr>
        <p:spPr>
          <a:xfrm xmlns:a="http://schemas.openxmlformats.org/drawingml/2006/main">
            <a:off x="609600" y="20764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7DD3FC"/>
                </a:solidFill>
                <a:latin typeface="Arial"/>
                <a:ea typeface="Arial"/>
                <a:cs typeface="Arial"/>
              </a:defRPr>
            </a:pPr>
            <a:r>
              <a:rPr sz="975" b="1">
                <a:solidFill>
                  <a:srgbClr val="7DD3FC"/>
                </a:solidFill>
                <a:latin typeface="Arial"/>
                <a:ea typeface="Arial"/>
                <a:cs typeface="Arial"/>
              </a:rPr>
              <a:t>01</a:t>
            </a:r>
          </a:p>
        </p:txBody>
      </p:sp>
      <p:sp>
        <p:nvSpPr>
          <p:cNvPr id="4" name="text">
            <a:extLst xmlns:a="http://schemas.openxmlformats.org/drawingml/2006/main">
              <a:ext uri="{FF2B5EF4-FFF2-40B4-BE49-F238E27FC236}">
                <a16:creationId xmlns:a16="http://schemas.microsoft.com/office/drawing/2014/main" id="{B04AF42C-EC4B-42EC-9472-D76037FC95D8}"/>
              </a:ext>
            </a:extLst>
          </p:cNvPr>
          <p:cNvSpPr>
            <a:spLocks xmlns:a="http://schemas.openxmlformats.org/drawingml/2006/main" noGrp="1"/>
          </p:cNvSpPr>
          <p:nvPr/>
        </p:nvSpPr>
        <p:spPr>
          <a:xfrm xmlns:a="http://schemas.openxmlformats.org/drawingml/2006/main">
            <a:off x="1352550" y="19621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Verify authenticity before decrypting.</a:t>
            </a:r>
          </a:p>
        </p:txBody>
      </p:sp>
      <p:sp>
        <p:nvSpPr>
          <p:cNvPr id="5" name="text">
            <a:extLst xmlns:a="http://schemas.openxmlformats.org/drawingml/2006/main">
              <a:ext uri="{FF2B5EF4-FFF2-40B4-BE49-F238E27FC236}">
                <a16:creationId xmlns:a16="http://schemas.microsoft.com/office/drawing/2014/main" id="{692200EC-889D-46DC-BADC-B1340D38911B}"/>
              </a:ext>
            </a:extLst>
          </p:cNvPr>
          <p:cNvSpPr>
            <a:spLocks xmlns:a="http://schemas.openxmlformats.org/drawingml/2006/main" noGrp="1"/>
          </p:cNvSpPr>
          <p:nvPr/>
        </p:nvSpPr>
        <p:spPr>
          <a:xfrm xmlns:a="http://schemas.openxmlformats.org/drawingml/2006/main">
            <a:off x="609600" y="29527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7DD3FC"/>
                </a:solidFill>
                <a:latin typeface="Arial"/>
                <a:ea typeface="Arial"/>
                <a:cs typeface="Arial"/>
              </a:defRPr>
            </a:pPr>
            <a:r>
              <a:rPr sz="975" b="1">
                <a:solidFill>
                  <a:srgbClr val="7DD3FC"/>
                </a:solidFill>
                <a:latin typeface="Arial"/>
                <a:ea typeface="Arial"/>
                <a:cs typeface="Arial"/>
              </a:rPr>
              <a:t>02</a:t>
            </a:r>
          </a:p>
        </p:txBody>
      </p:sp>
      <p:sp>
        <p:nvSpPr>
          <p:cNvPr id="6" name="text">
            <a:extLst xmlns:a="http://schemas.openxmlformats.org/drawingml/2006/main">
              <a:ext uri="{FF2B5EF4-FFF2-40B4-BE49-F238E27FC236}">
                <a16:creationId xmlns:a16="http://schemas.microsoft.com/office/drawing/2014/main" id="{D249D945-C100-485C-98C1-49F0D6AE1B51}"/>
              </a:ext>
            </a:extLst>
          </p:cNvPr>
          <p:cNvSpPr>
            <a:spLocks xmlns:a="http://schemas.openxmlformats.org/drawingml/2006/main" noGrp="1"/>
          </p:cNvSpPr>
          <p:nvPr/>
        </p:nvSpPr>
        <p:spPr>
          <a:xfrm xmlns:a="http://schemas.openxmlformats.org/drawingml/2006/main">
            <a:off x="1352550" y="28384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Never expose a padding-validity distinction.</a:t>
            </a:r>
          </a:p>
        </p:txBody>
      </p:sp>
      <p:sp>
        <p:nvSpPr>
          <p:cNvPr id="7" name="text">
            <a:extLst xmlns:a="http://schemas.openxmlformats.org/drawingml/2006/main">
              <a:ext uri="{FF2B5EF4-FFF2-40B4-BE49-F238E27FC236}">
                <a16:creationId xmlns:a16="http://schemas.microsoft.com/office/drawing/2014/main" id="{F8EB84E3-874B-4333-A8C1-A61277B4B7D4}"/>
              </a:ext>
            </a:extLst>
          </p:cNvPr>
          <p:cNvSpPr>
            <a:spLocks xmlns:a="http://schemas.openxmlformats.org/drawingml/2006/main" noGrp="1"/>
          </p:cNvSpPr>
          <p:nvPr/>
        </p:nvSpPr>
        <p:spPr>
          <a:xfrm xmlns:a="http://schemas.openxmlformats.org/drawingml/2006/main">
            <a:off x="609600" y="38290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7DD3FC"/>
                </a:solidFill>
                <a:latin typeface="Arial"/>
                <a:ea typeface="Arial"/>
                <a:cs typeface="Arial"/>
              </a:defRPr>
            </a:pPr>
            <a:r>
              <a:rPr sz="975" b="1">
                <a:solidFill>
                  <a:srgbClr val="7DD3FC"/>
                </a:solidFill>
                <a:latin typeface="Arial"/>
                <a:ea typeface="Arial"/>
                <a:cs typeface="Arial"/>
              </a:rPr>
              <a:t>03</a:t>
            </a:r>
          </a:p>
        </p:txBody>
      </p:sp>
      <p:sp>
        <p:nvSpPr>
          <p:cNvPr id="8" name="text">
            <a:extLst xmlns:a="http://schemas.openxmlformats.org/drawingml/2006/main">
              <a:ext uri="{FF2B5EF4-FFF2-40B4-BE49-F238E27FC236}">
                <a16:creationId xmlns:a16="http://schemas.microsoft.com/office/drawing/2014/main" id="{4FE57151-8E15-4F92-BCDB-C63C9370BDB9}"/>
              </a:ext>
            </a:extLst>
          </p:cNvPr>
          <p:cNvSpPr>
            <a:spLocks xmlns:a="http://schemas.openxmlformats.org/drawingml/2006/main" noGrp="1"/>
          </p:cNvSpPr>
          <p:nvPr/>
        </p:nvSpPr>
        <p:spPr>
          <a:xfrm xmlns:a="http://schemas.openxmlformats.org/drawingml/2006/main">
            <a:off x="1352550" y="37147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Treat decrypted state as untrusted until revalidated.</a:t>
            </a:r>
          </a:p>
        </p:txBody>
      </p:sp>
      <p:sp>
        <p:nvSpPr>
          <p:cNvPr id="9" name="">
            <a:extLst xmlns:a="http://schemas.openxmlformats.org/drawingml/2006/main">
              <a:ext uri="{FF2B5EF4-FFF2-40B4-BE49-F238E27FC236}">
                <a16:creationId xmlns:a16="http://schemas.microsoft.com/office/drawing/2014/main" id="{EFDF6E76-89E0-463A-88F6-B07D4C0135FD}"/>
              </a:ext>
            </a:extLst>
          </p:cNvPr>
          <p:cNvSpPr>
            <a:spLocks xmlns:a="http://schemas.openxmlformats.org/drawingml/2006/main" noGrp="1"/>
          </p:cNvSpPr>
          <p:nvPr/>
        </p:nvSpPr>
        <p:spPr>
          <a:xfrm xmlns:a="http://schemas.openxmlformats.org/drawingml/2006/main">
            <a:off x="8572500" y="1962150"/>
            <a:ext cx="9525" cy="2762250"/>
          </a:xfrm>
          <a:prstGeom xmlns:a="http://schemas.openxmlformats.org/drawingml/2006/main" prst="rect">
            <a:avLst/>
          </a:prstGeom>
          <a:solidFill xmlns:a="http://schemas.openxmlformats.org/drawingml/2006/main">
            <a:srgbClr val="294967"/>
          </a:solidFill>
          <a:ln xmlns:a="http://schemas.openxmlformats.org/drawingml/2006/main" w="0">
            <a:solidFill>
              <a:srgbClr val="294967"/>
            </a:solidFill>
            <a:prstDash val="solid"/>
          </a:ln>
        </p:spPr>
      </p:sp>
      <p:sp>
        <p:nvSpPr>
          <p:cNvPr id="10" name="text">
            <a:extLst xmlns:a="http://schemas.openxmlformats.org/drawingml/2006/main">
              <a:ext uri="{FF2B5EF4-FFF2-40B4-BE49-F238E27FC236}">
                <a16:creationId xmlns:a16="http://schemas.microsoft.com/office/drawing/2014/main" id="{6ECD10FC-B638-42A7-AEFB-7458018CF24C}"/>
              </a:ext>
            </a:extLst>
          </p:cNvPr>
          <p:cNvSpPr>
            <a:spLocks xmlns:a="http://schemas.openxmlformats.org/drawingml/2006/main" noGrp="1"/>
          </p:cNvSpPr>
          <p:nvPr/>
        </p:nvSpPr>
        <p:spPr>
          <a:xfrm xmlns:a="http://schemas.openxmlformats.org/drawingml/2006/main">
            <a:off x="8934450" y="22479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DBA74"/>
                </a:solidFill>
                <a:latin typeface="Arial"/>
                <a:ea typeface="Arial"/>
                <a:cs typeface="Arial"/>
              </a:defRPr>
            </a:pPr>
            <a:r>
              <a:rPr sz="2025" b="1">
                <a:solidFill>
                  <a:srgbClr val="FDBA74"/>
                </a:solidFill>
                <a:latin typeface="Arial"/>
                <a:ea typeface="Arial"/>
                <a:cs typeface="Arial"/>
              </a:rPr>
              <a:t>The attack did not break AES.</a:t>
            </a:r>
          </a:p>
        </p:txBody>
      </p:sp>
      <p:sp>
        <p:nvSpPr>
          <p:cNvPr id="11" name="text">
            <a:extLst xmlns:a="http://schemas.openxmlformats.org/drawingml/2006/main">
              <a:ext uri="{FF2B5EF4-FFF2-40B4-BE49-F238E27FC236}">
                <a16:creationId xmlns:a16="http://schemas.microsoft.com/office/drawing/2014/main" id="{23B6E7C2-978A-471B-9B61-20AD4B3D0EBD}"/>
              </a:ext>
            </a:extLst>
          </p:cNvPr>
          <p:cNvSpPr>
            <a:spLocks xmlns:a="http://schemas.openxmlformats.org/drawingml/2006/main" noGrp="1"/>
          </p:cNvSpPr>
          <p:nvPr/>
        </p:nvSpPr>
        <p:spPr>
          <a:xfrm xmlns:a="http://schemas.openxmlformats.org/drawingml/2006/main">
            <a:off x="8934450" y="3143250"/>
            <a:ext cx="266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9E7F3"/>
                </a:solidFill>
                <a:latin typeface="Arial"/>
                <a:ea typeface="Arial"/>
                <a:cs typeface="Arial"/>
              </a:defRPr>
            </a:pPr>
            <a:r>
              <a:rPr sz="1500" b="0">
                <a:solidFill>
                  <a:srgbClr val="D9E7F3"/>
                </a:solidFill>
                <a:latin typeface="Arial"/>
                <a:ea typeface="Arial"/>
                <a:cs typeface="Arial"/>
              </a:rPr>
              <a:t>It broke the system's decision to trust unauthenticated state.</a:t>
            </a:r>
          </a:p>
        </p:txBody>
      </p:sp>
      <p:sp>
        <p:nvSpPr>
          <p:cNvPr id="12" name="text">
            <a:extLst xmlns:a="http://schemas.openxmlformats.org/drawingml/2006/main">
              <a:ext uri="{FF2B5EF4-FFF2-40B4-BE49-F238E27FC236}">
                <a16:creationId xmlns:a16="http://schemas.microsoft.com/office/drawing/2014/main" id="{F4C75546-9A9E-43B1-ACCF-559925FB0114}"/>
              </a:ext>
            </a:extLst>
          </p:cNvPr>
          <p:cNvSpPr>
            <a:spLocks xmlns:a="http://schemas.openxmlformats.org/drawingml/2006/main" noGrp="1"/>
          </p:cNvSpPr>
          <p:nvPr/>
        </p:nvSpPr>
        <p:spPr>
          <a:xfrm xmlns:a="http://schemas.openxmlformats.org/drawingml/2006/main">
            <a:off x="609600" y="60198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0">
                <a:solidFill>
                  <a:srgbClr val="7F9BB2"/>
                </a:solidFill>
                <a:latin typeface="Arial"/>
                <a:ea typeface="Arial"/>
                <a:cs typeface="Arial"/>
              </a:defRPr>
            </a:pPr>
            <a:r>
              <a:rPr sz="750" b="0">
                <a:solidFill>
                  <a:srgbClr val="7F9BB2"/>
                </a:solidFill>
                <a:latin typeface="Arial"/>
                <a:ea typeface="Arial"/>
                <a:cs typeface="Arial"/>
              </a:rPr>
              <a:t>Sources: Vaudenay 2002 · NVD CVE-2010-3332 · NVD CVE-2014-3566 · OWASP Cryptographic Storage Cheat Sheet</a:t>
            </a:r>
          </a:p>
        </p:txBody>
      </p:sp>
      <p:sp>
        <p:nvSpPr>
          <p:cNvPr id="13" name="slide-number">
            <a:extLst xmlns:a="http://schemas.openxmlformats.org/drawingml/2006/main">
              <a:ext uri="{FF2B5EF4-FFF2-40B4-BE49-F238E27FC236}">
                <a16:creationId xmlns:a16="http://schemas.microsoft.com/office/drawing/2014/main" id="{FECF975F-C53E-4879-9E4A-A26C2753D714}"/>
              </a:ext>
            </a:extLst>
          </p:cNvPr>
          <p:cNvSpPr>
            <a:spLocks xmlns:a="http://schemas.openxmlformats.org/drawingml/2006/main" noGrp="1"/>
          </p:cNvSpPr>
          <p:nvPr/>
        </p:nvSpPr>
        <p:spPr>
          <a:xfrm xmlns:a="http://schemas.openxmlformats.org/drawingml/2006/main">
            <a:off x="111252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0">
                <a:solidFill>
                  <a:srgbClr val="8BA6BD"/>
                </a:solidFill>
                <a:latin typeface="Arial"/>
                <a:ea typeface="Arial"/>
                <a:cs typeface="Arial"/>
              </a:defRPr>
            </a:pPr>
            <a:r>
              <a:rPr sz="825" b="0">
                <a:solidFill>
                  <a:srgbClr val="8BA6BD"/>
                </a:solidFill>
                <a:latin typeface="Arial"/>
                <a:ea typeface="Arial"/>
                <a:cs typeface="Arial"/>
              </a:rPr>
              <a:t>12</a:t>
            </a:r>
          </a:p>
        </p:txBody>
      </p:sp>
    </p:spTree>
    <p:extLst>
      <p:ext uri="{BB962C8B-B14F-4D97-AF65-F5344CB8AC3E}">
        <p14:creationId xmlns:p14="http://schemas.microsoft.com/office/powerpoint/2010/main" val="751841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2026-10-20T04:08:14.5480000Z</dcterms:created>
  <dcterms:modified xsi:type="dcterms:W3CDTF">2026-10-20T04:08:14.5480000Z</dcterms:modified>
</coreProperties>
</file>